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 id="260" r:id="rId6"/>
    <p:sldId id="262" r:id="rId7"/>
    <p:sldId id="264" r:id="rId8"/>
    <p:sldId id="261" r:id="rId9"/>
    <p:sldId id="263" r:id="rId10"/>
    <p:sldId id="265" r:id="rId11"/>
    <p:sldId id="266" r:id="rId12"/>
    <p:sldId id="287" r:id="rId13"/>
    <p:sldId id="267" r:id="rId14"/>
    <p:sldId id="283" r:id="rId15"/>
    <p:sldId id="280" r:id="rId16"/>
    <p:sldId id="288" r:id="rId17"/>
    <p:sldId id="268" r:id="rId18"/>
    <p:sldId id="270" r:id="rId19"/>
    <p:sldId id="291" r:id="rId20"/>
    <p:sldId id="272" r:id="rId21"/>
    <p:sldId id="273" r:id="rId22"/>
    <p:sldId id="302" r:id="rId23"/>
    <p:sldId id="274" r:id="rId24"/>
    <p:sldId id="292" r:id="rId25"/>
    <p:sldId id="293" r:id="rId26"/>
    <p:sldId id="294" r:id="rId27"/>
    <p:sldId id="295" r:id="rId28"/>
    <p:sldId id="275" r:id="rId29"/>
    <p:sldId id="276" r:id="rId30"/>
    <p:sldId id="296" r:id="rId31"/>
    <p:sldId id="297" r:id="rId32"/>
    <p:sldId id="298" r:id="rId33"/>
    <p:sldId id="299" r:id="rId34"/>
    <p:sldId id="277" r:id="rId35"/>
    <p:sldId id="285" r:id="rId36"/>
    <p:sldId id="286" r:id="rId37"/>
    <p:sldId id="300" r:id="rId38"/>
    <p:sldId id="304" r:id="rId39"/>
    <p:sldId id="279" r:id="rId40"/>
    <p:sldId id="303"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1" d="100"/>
          <a:sy n="61" d="100"/>
        </p:scale>
        <p:origin x="109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1565286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4259001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1594662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1660841-1B55-4C95-8A11-5E316602A6E5}" type="datetimeFigureOut">
              <a:rPr lang="en-GH" smtClean="0"/>
              <a:t>18/12/2025</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708111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660841-1B55-4C95-8A11-5E316602A6E5}" type="datetimeFigureOut">
              <a:rPr lang="en-GH" smtClean="0"/>
              <a:t>18/12/2025</a:t>
            </a:fld>
            <a:endParaRPr lang="en-GH"/>
          </a:p>
        </p:txBody>
      </p:sp>
      <p:sp>
        <p:nvSpPr>
          <p:cNvPr id="8" name="Footer Placeholder 7"/>
          <p:cNvSpPr>
            <a:spLocks noGrp="1"/>
          </p:cNvSpPr>
          <p:nvPr>
            <p:ph type="ftr" sz="quarter" idx="11"/>
          </p:nvPr>
        </p:nvSpPr>
        <p:spPr/>
        <p:txBody>
          <a:bodyPr/>
          <a:lstStyle/>
          <a:p>
            <a:endParaRPr lang="en-GH"/>
          </a:p>
        </p:txBody>
      </p:sp>
      <p:sp>
        <p:nvSpPr>
          <p:cNvPr id="9" name="Slide Number Placeholder 8"/>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2047738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3"/>
          <p:cNvSpPr>
            <a:spLocks noGrp="1"/>
          </p:cNvSpPr>
          <p:nvPr>
            <p:ph type="ftr" sz="quarter" idx="11"/>
          </p:nvPr>
        </p:nvSpPr>
        <p:spPr/>
        <p:txBody>
          <a:bodyPr/>
          <a:lstStyle/>
          <a:p>
            <a:endParaRPr lang="en-GH"/>
          </a:p>
        </p:txBody>
      </p:sp>
      <p:sp>
        <p:nvSpPr>
          <p:cNvPr id="6" name="Slide Number Placeholder 4"/>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689866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2"/>
          <p:cNvSpPr>
            <a:spLocks noGrp="1"/>
          </p:cNvSpPr>
          <p:nvPr>
            <p:ph type="ftr" sz="quarter" idx="11"/>
          </p:nvPr>
        </p:nvSpPr>
        <p:spPr/>
        <p:txBody>
          <a:bodyPr/>
          <a:lstStyle/>
          <a:p>
            <a:endParaRPr lang="en-GH"/>
          </a:p>
        </p:txBody>
      </p:sp>
      <p:sp>
        <p:nvSpPr>
          <p:cNvPr id="6" name="Slide Number Placeholder 3"/>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17429367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5"/>
          <p:cNvSpPr>
            <a:spLocks noGrp="1"/>
          </p:cNvSpPr>
          <p:nvPr>
            <p:ph type="ftr" sz="quarter" idx="11"/>
          </p:nvPr>
        </p:nvSpPr>
        <p:spPr/>
        <p:txBody>
          <a:bodyPr/>
          <a:lstStyle/>
          <a:p>
            <a:endParaRPr lang="en-GH"/>
          </a:p>
        </p:txBody>
      </p:sp>
      <p:sp>
        <p:nvSpPr>
          <p:cNvPr id="6" name="Slide Number Placeholder 6"/>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14803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660841-1B55-4C95-8A11-5E316602A6E5}" type="datetimeFigureOut">
              <a:rPr lang="en-GH" smtClean="0"/>
              <a:t>18/12/2025</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3591962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660841-1B55-4C95-8A11-5E316602A6E5}" type="datetimeFigureOut">
              <a:rPr lang="en-GH" smtClean="0"/>
              <a:t>18/12/2025</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1914143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11090430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570200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26144645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4"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34204330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4"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28874439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8705469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660841-1B55-4C95-8A11-5E316602A6E5}" type="datetimeFigureOut">
              <a:rPr lang="en-GH" smtClean="0"/>
              <a:t>18/12/2025</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E1E72496-6532-486D-8F69-ECD31761E424}" type="slidenum">
              <a:rPr lang="en-GH" smtClean="0"/>
              <a:t>‹#›</a:t>
            </a:fld>
            <a:endParaRPr lang="en-GH"/>
          </a:p>
        </p:txBody>
      </p:sp>
    </p:spTree>
    <p:extLst>
      <p:ext uri="{BB962C8B-B14F-4D97-AF65-F5344CB8AC3E}">
        <p14:creationId xmlns:p14="http://schemas.microsoft.com/office/powerpoint/2010/main" val="3570280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1660841-1B55-4C95-8A11-5E316602A6E5}" type="datetimeFigureOut">
              <a:rPr lang="en-GH" smtClean="0"/>
              <a:t>18/12/2025</a:t>
            </a:fld>
            <a:endParaRPr lang="en-GH"/>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H"/>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E1E72496-6532-486D-8F69-ECD31761E424}" type="slidenum">
              <a:rPr lang="en-GH" smtClean="0"/>
              <a:t>‹#›</a:t>
            </a:fld>
            <a:endParaRPr lang="en-GH"/>
          </a:p>
        </p:txBody>
      </p:sp>
    </p:spTree>
    <p:extLst>
      <p:ext uri="{BB962C8B-B14F-4D97-AF65-F5344CB8AC3E}">
        <p14:creationId xmlns:p14="http://schemas.microsoft.com/office/powerpoint/2010/main" val="2362567582"/>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E4060-B4E8-CA46-E00E-82CD6C4FD9C9}"/>
              </a:ext>
            </a:extLst>
          </p:cNvPr>
          <p:cNvSpPr>
            <a:spLocks noGrp="1"/>
          </p:cNvSpPr>
          <p:nvPr>
            <p:ph type="ctrTitle"/>
          </p:nvPr>
        </p:nvSpPr>
        <p:spPr/>
        <p:txBody>
          <a:bodyPr>
            <a:normAutofit/>
          </a:bodyPr>
          <a:lstStyle/>
          <a:p>
            <a:r>
              <a:rPr lang="en-US" sz="4800" dirty="0"/>
              <a:t>COST DRIVERS IN HEALTHCARE AND FACTORS AFFECTING THE OUTCOMES OF TREATMENT</a:t>
            </a:r>
            <a:endParaRPr lang="en-GH" sz="4800" dirty="0"/>
          </a:p>
        </p:txBody>
      </p:sp>
      <p:sp>
        <p:nvSpPr>
          <p:cNvPr id="3" name="Subtitle 2">
            <a:extLst>
              <a:ext uri="{FF2B5EF4-FFF2-40B4-BE49-F238E27FC236}">
                <a16:creationId xmlns:a16="http://schemas.microsoft.com/office/drawing/2014/main" id="{A569F24F-1484-F9C0-E3C7-8AA5BF35DE77}"/>
              </a:ext>
            </a:extLst>
          </p:cNvPr>
          <p:cNvSpPr>
            <a:spLocks noGrp="1"/>
          </p:cNvSpPr>
          <p:nvPr>
            <p:ph type="subTitle" idx="1"/>
          </p:nvPr>
        </p:nvSpPr>
        <p:spPr/>
        <p:txBody>
          <a:bodyPr/>
          <a:lstStyle/>
          <a:p>
            <a:r>
              <a:rPr lang="en-US" dirty="0"/>
              <a:t>By Kwame </a:t>
            </a:r>
            <a:r>
              <a:rPr lang="en-US" dirty="0" err="1"/>
              <a:t>acheampong</a:t>
            </a:r>
            <a:r>
              <a:rPr lang="en-US" dirty="0"/>
              <a:t> </a:t>
            </a:r>
            <a:endParaRPr lang="en-GH" dirty="0"/>
          </a:p>
        </p:txBody>
      </p:sp>
    </p:spTree>
    <p:extLst>
      <p:ext uri="{BB962C8B-B14F-4D97-AF65-F5344CB8AC3E}">
        <p14:creationId xmlns:p14="http://schemas.microsoft.com/office/powerpoint/2010/main" val="2842328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81A90-8918-9A44-128C-0B1B24399DDD}"/>
              </a:ext>
            </a:extLst>
          </p:cNvPr>
          <p:cNvSpPr>
            <a:spLocks noGrp="1"/>
          </p:cNvSpPr>
          <p:nvPr>
            <p:ph type="title"/>
          </p:nvPr>
        </p:nvSpPr>
        <p:spPr/>
        <p:txBody>
          <a:bodyPr/>
          <a:lstStyle/>
          <a:p>
            <a:r>
              <a:rPr lang="en-US" dirty="0"/>
              <a:t>Introduction</a:t>
            </a:r>
            <a:endParaRPr lang="en-GH" dirty="0"/>
          </a:p>
        </p:txBody>
      </p:sp>
      <p:sp>
        <p:nvSpPr>
          <p:cNvPr id="3" name="Content Placeholder 2">
            <a:extLst>
              <a:ext uri="{FF2B5EF4-FFF2-40B4-BE49-F238E27FC236}">
                <a16:creationId xmlns:a16="http://schemas.microsoft.com/office/drawing/2014/main" id="{C3867554-9000-C4C8-8881-D0CB57EF8DDC}"/>
              </a:ext>
            </a:extLst>
          </p:cNvPr>
          <p:cNvSpPr>
            <a:spLocks noGrp="1"/>
          </p:cNvSpPr>
          <p:nvPr>
            <p:ph idx="1"/>
          </p:nvPr>
        </p:nvSpPr>
        <p:spPr/>
        <p:txBody>
          <a:bodyPr/>
          <a:lstStyle/>
          <a:p>
            <a:pPr marL="0" indent="0">
              <a:buNone/>
            </a:pPr>
            <a:r>
              <a:rPr lang="en-US" b="1" dirty="0"/>
              <a:t>Problem Statement</a:t>
            </a:r>
          </a:p>
          <a:p>
            <a:pPr lvl="1"/>
            <a:r>
              <a:rPr lang="en-US" dirty="0"/>
              <a:t> Healthcare facilities face rising treatment costs and inconsistent patient outcomes across various medical conditions and care settings. However, the specific cost drivers within treatment pathways and their direct impact on clinical outcomes remain unclear. This problem requires a comprehensive analysis of how treatment decisions, resource use, and care settings influence both healthcare spending and patient health outcomes.</a:t>
            </a:r>
          </a:p>
          <a:p>
            <a:pPr marL="0" indent="0">
              <a:buNone/>
            </a:pPr>
            <a:endParaRPr lang="en-US" b="1" dirty="0"/>
          </a:p>
          <a:p>
            <a:endParaRPr lang="en-GH" dirty="0"/>
          </a:p>
        </p:txBody>
      </p:sp>
    </p:spTree>
    <p:extLst>
      <p:ext uri="{BB962C8B-B14F-4D97-AF65-F5344CB8AC3E}">
        <p14:creationId xmlns:p14="http://schemas.microsoft.com/office/powerpoint/2010/main" val="38870496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4DFBB-CE3D-C3E9-80A5-180D0E94B6D0}"/>
              </a:ext>
            </a:extLst>
          </p:cNvPr>
          <p:cNvSpPr>
            <a:spLocks noGrp="1"/>
          </p:cNvSpPr>
          <p:nvPr>
            <p:ph type="title"/>
          </p:nvPr>
        </p:nvSpPr>
        <p:spPr/>
        <p:txBody>
          <a:bodyPr/>
          <a:lstStyle/>
          <a:p>
            <a:r>
              <a:rPr lang="en-US" dirty="0"/>
              <a:t>Objectives</a:t>
            </a:r>
            <a:endParaRPr lang="en-GH" dirty="0"/>
          </a:p>
        </p:txBody>
      </p:sp>
      <p:sp>
        <p:nvSpPr>
          <p:cNvPr id="3" name="Content Placeholder 2">
            <a:extLst>
              <a:ext uri="{FF2B5EF4-FFF2-40B4-BE49-F238E27FC236}">
                <a16:creationId xmlns:a16="http://schemas.microsoft.com/office/drawing/2014/main" id="{CE51100A-D593-54FC-9E84-4DBAB8ADD47B}"/>
              </a:ext>
            </a:extLst>
          </p:cNvPr>
          <p:cNvSpPr>
            <a:spLocks noGrp="1"/>
          </p:cNvSpPr>
          <p:nvPr>
            <p:ph idx="1"/>
          </p:nvPr>
        </p:nvSpPr>
        <p:spPr/>
        <p:txBody>
          <a:bodyPr/>
          <a:lstStyle/>
          <a:p>
            <a:pPr marL="457200" indent="-457200">
              <a:buFont typeface="+mj-lt"/>
              <a:buAutoNum type="arabicPeriod"/>
            </a:pPr>
            <a:r>
              <a:rPr lang="en-US" dirty="0"/>
              <a:t>Analyze patient billing data in order to determine the contributors of healthcare cost</a:t>
            </a:r>
          </a:p>
          <a:p>
            <a:pPr marL="457200" indent="-457200">
              <a:buFont typeface="+mj-lt"/>
              <a:buAutoNum type="arabicPeriod"/>
            </a:pPr>
            <a:r>
              <a:rPr lang="en-US" dirty="0"/>
              <a:t>Recommend practical measures that can help reduce patient spending</a:t>
            </a:r>
          </a:p>
          <a:p>
            <a:pPr marL="457200" indent="-457200">
              <a:buFont typeface="+mj-lt"/>
              <a:buAutoNum type="arabicPeriod"/>
            </a:pPr>
            <a:r>
              <a:rPr lang="en-US" dirty="0"/>
              <a:t>Assess the relationship between patient and hospital related  variables and test results.</a:t>
            </a:r>
          </a:p>
          <a:p>
            <a:pPr marL="457200" indent="-457200">
              <a:buFont typeface="+mj-lt"/>
              <a:buAutoNum type="arabicPeriod"/>
            </a:pPr>
            <a:r>
              <a:rPr lang="en-US" dirty="0"/>
              <a:t>Identify risk factors associated with poor test results.</a:t>
            </a:r>
            <a:endParaRPr lang="en-GH" dirty="0"/>
          </a:p>
        </p:txBody>
      </p:sp>
    </p:spTree>
    <p:extLst>
      <p:ext uri="{BB962C8B-B14F-4D97-AF65-F5344CB8AC3E}">
        <p14:creationId xmlns:p14="http://schemas.microsoft.com/office/powerpoint/2010/main" val="2400503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57534-D1A1-0A1F-434D-1E29D076D18E}"/>
              </a:ext>
            </a:extLst>
          </p:cNvPr>
          <p:cNvSpPr>
            <a:spLocks noGrp="1"/>
          </p:cNvSpPr>
          <p:nvPr>
            <p:ph type="title"/>
          </p:nvPr>
        </p:nvSpPr>
        <p:spPr/>
        <p:txBody>
          <a:bodyPr/>
          <a:lstStyle/>
          <a:p>
            <a:r>
              <a:rPr lang="en-US" dirty="0"/>
              <a:t>Research Questions</a:t>
            </a:r>
            <a:endParaRPr lang="en-GH" dirty="0"/>
          </a:p>
        </p:txBody>
      </p:sp>
      <p:sp>
        <p:nvSpPr>
          <p:cNvPr id="3" name="Content Placeholder 2">
            <a:extLst>
              <a:ext uri="{FF2B5EF4-FFF2-40B4-BE49-F238E27FC236}">
                <a16:creationId xmlns:a16="http://schemas.microsoft.com/office/drawing/2014/main" id="{1ADBEC59-4E75-7883-A5A6-6F4B6D88BAA7}"/>
              </a:ext>
            </a:extLst>
          </p:cNvPr>
          <p:cNvSpPr>
            <a:spLocks noGrp="1"/>
          </p:cNvSpPr>
          <p:nvPr>
            <p:ph idx="1"/>
          </p:nvPr>
        </p:nvSpPr>
        <p:spPr/>
        <p:txBody>
          <a:bodyPr/>
          <a:lstStyle/>
          <a:p>
            <a:pPr marL="457200" indent="-457200">
              <a:buFont typeface="+mj-lt"/>
              <a:buAutoNum type="arabicPeriod"/>
            </a:pPr>
            <a:r>
              <a:rPr lang="en-US" dirty="0"/>
              <a:t>Do certain medical conditions lead to higher billing amount?</a:t>
            </a:r>
          </a:p>
          <a:p>
            <a:pPr marL="457200" indent="-457200">
              <a:buFont typeface="+mj-lt"/>
              <a:buAutoNum type="arabicPeriod"/>
            </a:pPr>
            <a:r>
              <a:rPr lang="en-US" dirty="0"/>
              <a:t>Does the choice of healthcare provider influence billing amount</a:t>
            </a:r>
          </a:p>
          <a:p>
            <a:pPr marL="457200" indent="-457200">
              <a:buFont typeface="+mj-lt"/>
              <a:buAutoNum type="arabicPeriod"/>
            </a:pPr>
            <a:r>
              <a:rPr lang="en-US" dirty="0"/>
              <a:t>Does the type of admission influence billing amount?</a:t>
            </a:r>
          </a:p>
          <a:p>
            <a:pPr marL="457200" indent="-457200">
              <a:buFont typeface="+mj-lt"/>
              <a:buAutoNum type="arabicPeriod"/>
            </a:pPr>
            <a:r>
              <a:rPr lang="en-US" dirty="0"/>
              <a:t>Which demographic group incur higher medical expense, and what pattern exists across age groups?</a:t>
            </a:r>
          </a:p>
          <a:p>
            <a:pPr marL="457200" indent="-457200">
              <a:buFont typeface="+mj-lt"/>
              <a:buAutoNum type="arabicPeriod"/>
            </a:pPr>
            <a:r>
              <a:rPr lang="en-US" dirty="0"/>
              <a:t>What actionable recommendations can be made to reduce the overall treatment cost</a:t>
            </a:r>
          </a:p>
          <a:p>
            <a:pPr marL="457200" indent="-457200">
              <a:buFont typeface="+mj-lt"/>
              <a:buAutoNum type="arabicPeriod"/>
            </a:pPr>
            <a:r>
              <a:rPr lang="en-US" dirty="0"/>
              <a:t>How does medical condition, age , length of stay influence the test results</a:t>
            </a:r>
          </a:p>
          <a:p>
            <a:pPr marL="0" indent="0">
              <a:buNone/>
            </a:pPr>
            <a:endParaRPr lang="en-US" dirty="0"/>
          </a:p>
        </p:txBody>
      </p:sp>
    </p:spTree>
    <p:extLst>
      <p:ext uri="{BB962C8B-B14F-4D97-AF65-F5344CB8AC3E}">
        <p14:creationId xmlns:p14="http://schemas.microsoft.com/office/powerpoint/2010/main" val="22130404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A1BDB-0F4E-9884-B100-BE1C2194D496}"/>
              </a:ext>
            </a:extLst>
          </p:cNvPr>
          <p:cNvSpPr>
            <a:spLocks noGrp="1"/>
          </p:cNvSpPr>
          <p:nvPr>
            <p:ph type="title"/>
          </p:nvPr>
        </p:nvSpPr>
        <p:spPr/>
        <p:txBody>
          <a:bodyPr/>
          <a:lstStyle/>
          <a:p>
            <a:r>
              <a:rPr lang="en-US" dirty="0"/>
              <a:t>Research Questions</a:t>
            </a:r>
            <a:endParaRPr lang="en-GH" dirty="0"/>
          </a:p>
        </p:txBody>
      </p:sp>
      <p:sp>
        <p:nvSpPr>
          <p:cNvPr id="3" name="Content Placeholder 2">
            <a:extLst>
              <a:ext uri="{FF2B5EF4-FFF2-40B4-BE49-F238E27FC236}">
                <a16:creationId xmlns:a16="http://schemas.microsoft.com/office/drawing/2014/main" id="{3DE71485-6F3F-22FD-3C87-EC640226890E}"/>
              </a:ext>
            </a:extLst>
          </p:cNvPr>
          <p:cNvSpPr>
            <a:spLocks noGrp="1"/>
          </p:cNvSpPr>
          <p:nvPr>
            <p:ph idx="1"/>
          </p:nvPr>
        </p:nvSpPr>
        <p:spPr/>
        <p:txBody>
          <a:bodyPr/>
          <a:lstStyle/>
          <a:p>
            <a:pPr marL="457200" indent="-457200">
              <a:buFont typeface="+mj-lt"/>
              <a:buAutoNum type="arabicPeriod" startAt="7"/>
            </a:pPr>
            <a:r>
              <a:rPr lang="en-US" dirty="0"/>
              <a:t>Does medication influence the test results</a:t>
            </a:r>
          </a:p>
          <a:p>
            <a:pPr marL="457200" indent="-457200">
              <a:buFont typeface="+mj-lt"/>
              <a:buAutoNum type="arabicPeriod" startAt="7"/>
            </a:pPr>
            <a:r>
              <a:rPr lang="en-US" dirty="0"/>
              <a:t>Are certain medical conditions more prone to poor outcomes.</a:t>
            </a:r>
          </a:p>
          <a:p>
            <a:pPr marL="0" indent="0">
              <a:buNone/>
            </a:pPr>
            <a:endParaRPr lang="en-GH" dirty="0"/>
          </a:p>
        </p:txBody>
      </p:sp>
    </p:spTree>
    <p:extLst>
      <p:ext uri="{BB962C8B-B14F-4D97-AF65-F5344CB8AC3E}">
        <p14:creationId xmlns:p14="http://schemas.microsoft.com/office/powerpoint/2010/main" val="1109136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739FDB-C57C-E5E2-9D8B-17A01EB0BDAD}"/>
              </a:ext>
            </a:extLst>
          </p:cNvPr>
          <p:cNvSpPr>
            <a:spLocks noGrp="1"/>
          </p:cNvSpPr>
          <p:nvPr>
            <p:ph type="title"/>
          </p:nvPr>
        </p:nvSpPr>
        <p:spPr/>
        <p:txBody>
          <a:bodyPr/>
          <a:lstStyle/>
          <a:p>
            <a:r>
              <a:rPr lang="en-US" dirty="0"/>
              <a:t>Data Preparation</a:t>
            </a:r>
            <a:endParaRPr lang="en-GH" dirty="0"/>
          </a:p>
        </p:txBody>
      </p:sp>
      <p:sp>
        <p:nvSpPr>
          <p:cNvPr id="5" name="Text Placeholder 4">
            <a:extLst>
              <a:ext uri="{FF2B5EF4-FFF2-40B4-BE49-F238E27FC236}">
                <a16:creationId xmlns:a16="http://schemas.microsoft.com/office/drawing/2014/main" id="{86F81554-CDEF-6EAF-7611-D1CEEA73D9D2}"/>
              </a:ext>
            </a:extLst>
          </p:cNvPr>
          <p:cNvSpPr>
            <a:spLocks noGrp="1"/>
          </p:cNvSpPr>
          <p:nvPr>
            <p:ph type="body" idx="1"/>
          </p:nvPr>
        </p:nvSpPr>
        <p:spPr/>
        <p:txBody>
          <a:bodyPr/>
          <a:lstStyle/>
          <a:p>
            <a:endParaRPr lang="en-GH"/>
          </a:p>
        </p:txBody>
      </p:sp>
    </p:spTree>
    <p:extLst>
      <p:ext uri="{BB962C8B-B14F-4D97-AF65-F5344CB8AC3E}">
        <p14:creationId xmlns:p14="http://schemas.microsoft.com/office/powerpoint/2010/main" val="17853241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6F19A2-0416-EF1A-076A-E9B740563CF8}"/>
              </a:ext>
            </a:extLst>
          </p:cNvPr>
          <p:cNvSpPr>
            <a:spLocks noGrp="1"/>
          </p:cNvSpPr>
          <p:nvPr>
            <p:ph type="title"/>
          </p:nvPr>
        </p:nvSpPr>
        <p:spPr/>
        <p:txBody>
          <a:bodyPr/>
          <a:lstStyle/>
          <a:p>
            <a:r>
              <a:rPr lang="en-US" dirty="0"/>
              <a:t>Tools used</a:t>
            </a:r>
            <a:endParaRPr lang="en-GH" dirty="0"/>
          </a:p>
        </p:txBody>
      </p:sp>
      <p:sp>
        <p:nvSpPr>
          <p:cNvPr id="5" name="Content Placeholder 4">
            <a:extLst>
              <a:ext uri="{FF2B5EF4-FFF2-40B4-BE49-F238E27FC236}">
                <a16:creationId xmlns:a16="http://schemas.microsoft.com/office/drawing/2014/main" id="{609DA025-9717-DA0C-FC5B-5C2ADD7449F2}"/>
              </a:ext>
            </a:extLst>
          </p:cNvPr>
          <p:cNvSpPr>
            <a:spLocks noGrp="1"/>
          </p:cNvSpPr>
          <p:nvPr>
            <p:ph idx="1"/>
          </p:nvPr>
        </p:nvSpPr>
        <p:spPr/>
        <p:txBody>
          <a:bodyPr/>
          <a:lstStyle/>
          <a:p>
            <a:pPr marL="457200" indent="-457200">
              <a:buFont typeface="+mj-lt"/>
              <a:buAutoNum type="arabicPeriod"/>
            </a:pPr>
            <a:r>
              <a:rPr lang="en-US" dirty="0"/>
              <a:t>Google colab</a:t>
            </a:r>
            <a:endParaRPr lang="en-GH" dirty="0"/>
          </a:p>
        </p:txBody>
      </p:sp>
    </p:spTree>
    <p:extLst>
      <p:ext uri="{BB962C8B-B14F-4D97-AF65-F5344CB8AC3E}">
        <p14:creationId xmlns:p14="http://schemas.microsoft.com/office/powerpoint/2010/main" val="494321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E0295-196F-3C79-A9BD-9450085B0CEA}"/>
              </a:ext>
            </a:extLst>
          </p:cNvPr>
          <p:cNvSpPr>
            <a:spLocks noGrp="1"/>
          </p:cNvSpPr>
          <p:nvPr>
            <p:ph type="title"/>
          </p:nvPr>
        </p:nvSpPr>
        <p:spPr/>
        <p:txBody>
          <a:bodyPr/>
          <a:lstStyle/>
          <a:p>
            <a:r>
              <a:rPr lang="en-US" dirty="0"/>
              <a:t>Data Overview</a:t>
            </a:r>
            <a:endParaRPr lang="en-GH" dirty="0"/>
          </a:p>
        </p:txBody>
      </p:sp>
      <p:sp>
        <p:nvSpPr>
          <p:cNvPr id="3" name="Content Placeholder 2">
            <a:extLst>
              <a:ext uri="{FF2B5EF4-FFF2-40B4-BE49-F238E27FC236}">
                <a16:creationId xmlns:a16="http://schemas.microsoft.com/office/drawing/2014/main" id="{BCC667E9-50DA-1968-52EF-4A99938E160A}"/>
              </a:ext>
            </a:extLst>
          </p:cNvPr>
          <p:cNvSpPr>
            <a:spLocks noGrp="1"/>
          </p:cNvSpPr>
          <p:nvPr>
            <p:ph idx="1"/>
          </p:nvPr>
        </p:nvSpPr>
        <p:spPr>
          <a:xfrm>
            <a:off x="1371326" y="1269912"/>
            <a:ext cx="8946541" cy="4899659"/>
          </a:xfrm>
        </p:spPr>
        <p:txBody>
          <a:bodyPr>
            <a:normAutofit/>
          </a:bodyPr>
          <a:lstStyle/>
          <a:p>
            <a:pPr marL="457200" indent="-457200">
              <a:buFont typeface="+mj-lt"/>
              <a:buAutoNum type="arabicPeriod"/>
            </a:pPr>
            <a:r>
              <a:rPr lang="en-US" dirty="0"/>
              <a:t>Dataset had 16columns</a:t>
            </a:r>
          </a:p>
          <a:p>
            <a:pPr marL="457200" indent="-457200">
              <a:buFont typeface="+mj-lt"/>
              <a:buAutoNum type="arabicPeriod"/>
            </a:pPr>
            <a:r>
              <a:rPr lang="en-GB" dirty="0"/>
              <a:t>30,000 unique patients</a:t>
            </a:r>
          </a:p>
          <a:p>
            <a:pPr marL="457200" indent="-457200">
              <a:buFont typeface="+mj-lt"/>
              <a:buAutoNum type="arabicPeriod"/>
            </a:pPr>
            <a:r>
              <a:rPr lang="en-GB" dirty="0"/>
              <a:t>20 medical </a:t>
            </a:r>
            <a:r>
              <a:rPr lang="en-GB" dirty="0" err="1"/>
              <a:t>conditins</a:t>
            </a:r>
            <a:endParaRPr lang="en-GB" dirty="0"/>
          </a:p>
          <a:p>
            <a:pPr marL="457200" indent="-457200">
              <a:buFont typeface="+mj-lt"/>
              <a:buAutoNum type="arabicPeriod"/>
            </a:pPr>
            <a:r>
              <a:rPr lang="en-GB" dirty="0"/>
              <a:t>1000 doctors</a:t>
            </a:r>
          </a:p>
          <a:p>
            <a:pPr marL="457200" indent="-457200">
              <a:buFont typeface="+mj-lt"/>
              <a:buAutoNum type="arabicPeriod"/>
            </a:pPr>
            <a:r>
              <a:rPr lang="en-GB" dirty="0"/>
              <a:t>40341 doctors</a:t>
            </a:r>
          </a:p>
          <a:p>
            <a:pPr marL="457200" indent="-457200">
              <a:buFont typeface="+mj-lt"/>
              <a:buAutoNum type="arabicPeriod"/>
            </a:pPr>
            <a:r>
              <a:rPr lang="en-GB" dirty="0"/>
              <a:t>6 hospitals</a:t>
            </a:r>
          </a:p>
          <a:p>
            <a:pPr marL="457200" indent="-457200">
              <a:buFont typeface="+mj-lt"/>
              <a:buAutoNum type="arabicPeriod"/>
            </a:pPr>
            <a:r>
              <a:rPr lang="en-GB" dirty="0"/>
              <a:t>6 insurance providers</a:t>
            </a:r>
          </a:p>
          <a:p>
            <a:pPr marL="457200" indent="-457200">
              <a:buFont typeface="+mj-lt"/>
              <a:buAutoNum type="arabicPeriod"/>
            </a:pPr>
            <a:r>
              <a:rPr lang="en-GB" dirty="0"/>
              <a:t>3 Admission type categories</a:t>
            </a:r>
          </a:p>
          <a:p>
            <a:pPr marL="457200" indent="-457200">
              <a:buFont typeface="+mj-lt"/>
              <a:buAutoNum type="arabicPeriod"/>
            </a:pPr>
            <a:r>
              <a:rPr lang="en-GB" dirty="0"/>
              <a:t>20 medications</a:t>
            </a:r>
          </a:p>
          <a:p>
            <a:pPr marL="457200" indent="-457200">
              <a:buFont typeface="+mj-lt"/>
              <a:buAutoNum type="arabicPeriod"/>
            </a:pPr>
            <a:r>
              <a:rPr lang="en-US" dirty="0"/>
              <a:t>2 target columns (Billing amount, Test result)</a:t>
            </a:r>
          </a:p>
          <a:p>
            <a:pPr marL="457200" indent="-457200">
              <a:buFont typeface="+mj-lt"/>
              <a:buAutoNum type="arabicPeriod"/>
            </a:pPr>
            <a:r>
              <a:rPr lang="en-US" dirty="0"/>
              <a:t>Time span of data : January 2022 –November 2022</a:t>
            </a:r>
          </a:p>
        </p:txBody>
      </p:sp>
    </p:spTree>
    <p:extLst>
      <p:ext uri="{BB962C8B-B14F-4D97-AF65-F5344CB8AC3E}">
        <p14:creationId xmlns:p14="http://schemas.microsoft.com/office/powerpoint/2010/main" val="3941357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06881-FB2E-5464-DD68-C671CD9AF5B1}"/>
              </a:ext>
            </a:extLst>
          </p:cNvPr>
          <p:cNvSpPr>
            <a:spLocks noGrp="1"/>
          </p:cNvSpPr>
          <p:nvPr>
            <p:ph type="title"/>
          </p:nvPr>
        </p:nvSpPr>
        <p:spPr/>
        <p:txBody>
          <a:bodyPr/>
          <a:lstStyle/>
          <a:p>
            <a:r>
              <a:rPr lang="en-US" dirty="0"/>
              <a:t>Data cleaning</a:t>
            </a:r>
            <a:endParaRPr lang="en-GH" dirty="0"/>
          </a:p>
        </p:txBody>
      </p:sp>
      <p:sp>
        <p:nvSpPr>
          <p:cNvPr id="3" name="Content Placeholder 2">
            <a:extLst>
              <a:ext uri="{FF2B5EF4-FFF2-40B4-BE49-F238E27FC236}">
                <a16:creationId xmlns:a16="http://schemas.microsoft.com/office/drawing/2014/main" id="{99ADD8CC-A417-67E2-7E04-C94B931E50B6}"/>
              </a:ext>
            </a:extLst>
          </p:cNvPr>
          <p:cNvSpPr>
            <a:spLocks noGrp="1"/>
          </p:cNvSpPr>
          <p:nvPr>
            <p:ph idx="1"/>
          </p:nvPr>
        </p:nvSpPr>
        <p:spPr/>
        <p:txBody>
          <a:bodyPr>
            <a:normAutofit/>
          </a:bodyPr>
          <a:lstStyle/>
          <a:p>
            <a:pPr marL="0" indent="0">
              <a:buNone/>
            </a:pPr>
            <a:r>
              <a:rPr lang="en-US" dirty="0"/>
              <a:t>Observation</a:t>
            </a:r>
          </a:p>
          <a:p>
            <a:pPr marL="800100" lvl="1" indent="-342900">
              <a:buFont typeface="+mj-lt"/>
              <a:buAutoNum type="arabicPeriod"/>
            </a:pPr>
            <a:r>
              <a:rPr lang="en-US" dirty="0"/>
              <a:t>Dataset was clean</a:t>
            </a:r>
          </a:p>
          <a:p>
            <a:pPr lvl="1"/>
            <a:endParaRPr lang="en-US" dirty="0"/>
          </a:p>
          <a:p>
            <a:pPr marL="0" indent="0">
              <a:buNone/>
            </a:pPr>
            <a:r>
              <a:rPr lang="en-US" dirty="0"/>
              <a:t>.</a:t>
            </a:r>
          </a:p>
        </p:txBody>
      </p:sp>
    </p:spTree>
    <p:extLst>
      <p:ext uri="{BB962C8B-B14F-4D97-AF65-F5344CB8AC3E}">
        <p14:creationId xmlns:p14="http://schemas.microsoft.com/office/powerpoint/2010/main" val="44954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3F26E-FCE8-9EE7-886F-2E281B23876B}"/>
              </a:ext>
            </a:extLst>
          </p:cNvPr>
          <p:cNvSpPr>
            <a:spLocks noGrp="1"/>
          </p:cNvSpPr>
          <p:nvPr>
            <p:ph type="title"/>
          </p:nvPr>
        </p:nvSpPr>
        <p:spPr/>
        <p:txBody>
          <a:bodyPr/>
          <a:lstStyle/>
          <a:p>
            <a:r>
              <a:rPr lang="en-US" dirty="0"/>
              <a:t> Numerical correlation</a:t>
            </a:r>
            <a:endParaRPr lang="en-GH" dirty="0"/>
          </a:p>
        </p:txBody>
      </p:sp>
      <p:pic>
        <p:nvPicPr>
          <p:cNvPr id="1026" name="Picture 2">
            <a:extLst>
              <a:ext uri="{FF2B5EF4-FFF2-40B4-BE49-F238E27FC236}">
                <a16:creationId xmlns:a16="http://schemas.microsoft.com/office/drawing/2014/main" id="{238EE2D2-4193-E74D-09AA-16B75E382A1B}"/>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p:blipFill>
        <p:spPr bwMode="auto">
          <a:xfrm>
            <a:off x="394139" y="1683220"/>
            <a:ext cx="5104962" cy="434664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12AD7E7D-D96D-15E6-772A-5DAA9E6D3249}"/>
              </a:ext>
            </a:extLst>
          </p:cNvPr>
          <p:cNvSpPr>
            <a:spLocks noGrp="1"/>
          </p:cNvSpPr>
          <p:nvPr>
            <p:ph sz="half" idx="2"/>
          </p:nvPr>
        </p:nvSpPr>
        <p:spPr/>
        <p:txBody>
          <a:bodyPr/>
          <a:lstStyle/>
          <a:p>
            <a:pPr>
              <a:buFont typeface="+mj-lt"/>
              <a:buAutoNum type="arabicPeriod"/>
            </a:pPr>
            <a:r>
              <a:rPr lang="en-US" dirty="0"/>
              <a:t>Significant correlations between the numerical variables</a:t>
            </a:r>
          </a:p>
          <a:p>
            <a:pPr>
              <a:buFont typeface="+mj-lt"/>
              <a:buAutoNum type="arabicPeriod"/>
            </a:pPr>
            <a:r>
              <a:rPr lang="en-US" dirty="0"/>
              <a:t>Age of patient has minimal influence on billing amount</a:t>
            </a:r>
          </a:p>
          <a:p>
            <a:pPr>
              <a:buFont typeface="+mj-lt"/>
              <a:buAutoNum type="arabicPeriod"/>
            </a:pPr>
            <a:r>
              <a:rPr lang="en-US" dirty="0"/>
              <a:t>Length of stay has pronounce influence on the billing amount</a:t>
            </a:r>
            <a:endParaRPr lang="en-GH" dirty="0"/>
          </a:p>
        </p:txBody>
      </p:sp>
    </p:spTree>
    <p:extLst>
      <p:ext uri="{BB962C8B-B14F-4D97-AF65-F5344CB8AC3E}">
        <p14:creationId xmlns:p14="http://schemas.microsoft.com/office/powerpoint/2010/main" val="25284990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C6F75-0AEC-95E7-B99C-10E806F7C8A0}"/>
              </a:ext>
            </a:extLst>
          </p:cNvPr>
          <p:cNvSpPr>
            <a:spLocks noGrp="1"/>
          </p:cNvSpPr>
          <p:nvPr>
            <p:ph type="title"/>
          </p:nvPr>
        </p:nvSpPr>
        <p:spPr/>
        <p:txBody>
          <a:bodyPr/>
          <a:lstStyle/>
          <a:p>
            <a:r>
              <a:rPr lang="en-US" dirty="0"/>
              <a:t>Initial Insights</a:t>
            </a:r>
            <a:endParaRPr lang="en-GH" dirty="0"/>
          </a:p>
        </p:txBody>
      </p:sp>
      <p:sp>
        <p:nvSpPr>
          <p:cNvPr id="3" name="Content Placeholder 2">
            <a:extLst>
              <a:ext uri="{FF2B5EF4-FFF2-40B4-BE49-F238E27FC236}">
                <a16:creationId xmlns:a16="http://schemas.microsoft.com/office/drawing/2014/main" id="{D90B9227-F2C4-2BB2-FC24-E47319F6C1DC}"/>
              </a:ext>
            </a:extLst>
          </p:cNvPr>
          <p:cNvSpPr>
            <a:spLocks noGrp="1"/>
          </p:cNvSpPr>
          <p:nvPr>
            <p:ph idx="1"/>
          </p:nvPr>
        </p:nvSpPr>
        <p:spPr/>
        <p:txBody>
          <a:bodyPr>
            <a:normAutofit fontScale="92500" lnSpcReduction="10000"/>
          </a:bodyPr>
          <a:lstStyle/>
          <a:p>
            <a:pPr marL="457200" indent="-457200">
              <a:buFont typeface="+mj-lt"/>
              <a:buAutoNum type="arabicPeriod"/>
            </a:pPr>
            <a:r>
              <a:rPr lang="en-US" dirty="0"/>
              <a:t>Numerical columns are positively skewed</a:t>
            </a:r>
          </a:p>
          <a:p>
            <a:pPr marL="457200" indent="-457200">
              <a:buFont typeface="+mj-lt"/>
              <a:buAutoNum type="arabicPeriod"/>
            </a:pPr>
            <a:r>
              <a:rPr lang="en-US" dirty="0"/>
              <a:t>Outliers observed in numerical columns</a:t>
            </a:r>
          </a:p>
          <a:p>
            <a:pPr marL="457200" indent="-457200">
              <a:buFont typeface="+mj-lt"/>
              <a:buAutoNum type="arabicPeriod"/>
            </a:pPr>
            <a:r>
              <a:rPr lang="en-US" dirty="0"/>
              <a:t>Age distribution centered between 38-60 years with small number of elderly patients(outliers</a:t>
            </a:r>
          </a:p>
          <a:p>
            <a:pPr marL="457200" indent="-457200">
              <a:buFont typeface="+mj-lt"/>
              <a:buAutoNum type="arabicPeriod"/>
            </a:pPr>
            <a:r>
              <a:rPr lang="en-US" dirty="0"/>
              <a:t>Most patients stayed 3-7 days. Small section of patients experienced longer stay( outliers)</a:t>
            </a:r>
          </a:p>
          <a:p>
            <a:pPr marL="457200" indent="-457200">
              <a:buFont typeface="+mj-lt"/>
              <a:buAutoNum type="arabicPeriod"/>
            </a:pPr>
            <a:r>
              <a:rPr lang="en-US" dirty="0"/>
              <a:t>Most patients were billed between 6000-38000$. Small number of patients were billed quite high(outliers). Likely indicator of the resources used or the kind of medical condition</a:t>
            </a:r>
          </a:p>
          <a:p>
            <a:pPr marL="457200" indent="-457200">
              <a:buFont typeface="+mj-lt"/>
              <a:buAutoNum type="arabicPeriod"/>
            </a:pPr>
            <a:r>
              <a:rPr lang="en-US" dirty="0"/>
              <a:t> Most patients experienced low out of pocket payments, indicative of high insurance cover rate, as compared the patients who had high patient responsibility(outliers). These ones had no insurance cover.</a:t>
            </a:r>
          </a:p>
          <a:p>
            <a:endParaRPr lang="en-US" dirty="0"/>
          </a:p>
        </p:txBody>
      </p:sp>
    </p:spTree>
    <p:extLst>
      <p:ext uri="{BB962C8B-B14F-4D97-AF65-F5344CB8AC3E}">
        <p14:creationId xmlns:p14="http://schemas.microsoft.com/office/powerpoint/2010/main" val="2026669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D46F1-1A31-5C51-85F1-B507AF749EDD}"/>
              </a:ext>
            </a:extLst>
          </p:cNvPr>
          <p:cNvSpPr>
            <a:spLocks noGrp="1"/>
          </p:cNvSpPr>
          <p:nvPr>
            <p:ph type="title"/>
          </p:nvPr>
        </p:nvSpPr>
        <p:spPr/>
        <p:txBody>
          <a:bodyPr/>
          <a:lstStyle/>
          <a:p>
            <a:r>
              <a:rPr lang="en-US" dirty="0"/>
              <a:t>Initial Insight</a:t>
            </a:r>
            <a:endParaRPr lang="en-GH" dirty="0"/>
          </a:p>
        </p:txBody>
      </p:sp>
      <p:sp>
        <p:nvSpPr>
          <p:cNvPr id="3" name="Content Placeholder 2">
            <a:extLst>
              <a:ext uri="{FF2B5EF4-FFF2-40B4-BE49-F238E27FC236}">
                <a16:creationId xmlns:a16="http://schemas.microsoft.com/office/drawing/2014/main" id="{8C10F03E-2790-D47F-8BB4-8A200403E54B}"/>
              </a:ext>
            </a:extLst>
          </p:cNvPr>
          <p:cNvSpPr>
            <a:spLocks noGrp="1"/>
          </p:cNvSpPr>
          <p:nvPr>
            <p:ph idx="1"/>
          </p:nvPr>
        </p:nvSpPr>
        <p:spPr/>
        <p:txBody>
          <a:bodyPr/>
          <a:lstStyle/>
          <a:p>
            <a:pPr marL="457200" indent="-457200">
              <a:buFont typeface="+mj-lt"/>
              <a:buAutoNum type="arabicPeriod" startAt="7"/>
            </a:pPr>
            <a:r>
              <a:rPr lang="en-US" dirty="0"/>
              <a:t>Patients are uniformly distributed amongst the hospital</a:t>
            </a:r>
          </a:p>
          <a:p>
            <a:pPr marL="457200" indent="-457200">
              <a:buFont typeface="+mj-lt"/>
              <a:buAutoNum type="arabicPeriod" startAt="7"/>
            </a:pPr>
            <a:r>
              <a:rPr lang="en-US" dirty="0"/>
              <a:t>Majority of the cases reporting to the hospital were emergency cases</a:t>
            </a:r>
            <a:endParaRPr lang="en-GH" dirty="0"/>
          </a:p>
        </p:txBody>
      </p:sp>
    </p:spTree>
    <p:extLst>
      <p:ext uri="{BB962C8B-B14F-4D97-AF65-F5344CB8AC3E}">
        <p14:creationId xmlns:p14="http://schemas.microsoft.com/office/powerpoint/2010/main" val="1644358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E0C1A2-DFFA-E72D-9323-EABE7E9A4E46}"/>
              </a:ext>
            </a:extLst>
          </p:cNvPr>
          <p:cNvSpPr>
            <a:spLocks noGrp="1"/>
          </p:cNvSpPr>
          <p:nvPr>
            <p:ph type="title"/>
          </p:nvPr>
        </p:nvSpPr>
        <p:spPr/>
        <p:txBody>
          <a:bodyPr/>
          <a:lstStyle/>
          <a:p>
            <a:r>
              <a:rPr lang="en-US" dirty="0"/>
              <a:t>Analyses</a:t>
            </a:r>
            <a:endParaRPr lang="en-GH" dirty="0"/>
          </a:p>
        </p:txBody>
      </p:sp>
      <p:sp>
        <p:nvSpPr>
          <p:cNvPr id="5" name="Text Placeholder 4">
            <a:extLst>
              <a:ext uri="{FF2B5EF4-FFF2-40B4-BE49-F238E27FC236}">
                <a16:creationId xmlns:a16="http://schemas.microsoft.com/office/drawing/2014/main" id="{EEB28A1F-240C-51D5-1AC9-6F7638FE71A3}"/>
              </a:ext>
            </a:extLst>
          </p:cNvPr>
          <p:cNvSpPr>
            <a:spLocks noGrp="1"/>
          </p:cNvSpPr>
          <p:nvPr>
            <p:ph type="body" idx="1"/>
          </p:nvPr>
        </p:nvSpPr>
        <p:spPr/>
        <p:txBody>
          <a:bodyPr/>
          <a:lstStyle/>
          <a:p>
            <a:endParaRPr lang="en-GH"/>
          </a:p>
        </p:txBody>
      </p:sp>
    </p:spTree>
    <p:extLst>
      <p:ext uri="{BB962C8B-B14F-4D97-AF65-F5344CB8AC3E}">
        <p14:creationId xmlns:p14="http://schemas.microsoft.com/office/powerpoint/2010/main" val="499568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4125EED-3F13-FF5C-3374-AEC189EEE2DD}"/>
              </a:ext>
            </a:extLst>
          </p:cNvPr>
          <p:cNvSpPr>
            <a:spLocks noGrp="1"/>
          </p:cNvSpPr>
          <p:nvPr>
            <p:ph type="title"/>
          </p:nvPr>
        </p:nvSpPr>
        <p:spPr/>
        <p:txBody>
          <a:bodyPr/>
          <a:lstStyle/>
          <a:p>
            <a:r>
              <a:rPr lang="en-US" dirty="0"/>
              <a:t>Age grouping</a:t>
            </a:r>
            <a:endParaRPr lang="en-GH" dirty="0"/>
          </a:p>
        </p:txBody>
      </p:sp>
      <p:sp>
        <p:nvSpPr>
          <p:cNvPr id="5" name="Content Placeholder 4">
            <a:extLst>
              <a:ext uri="{FF2B5EF4-FFF2-40B4-BE49-F238E27FC236}">
                <a16:creationId xmlns:a16="http://schemas.microsoft.com/office/drawing/2014/main" id="{92681B8C-F49F-4DF3-5840-A11E1DAA93CE}"/>
              </a:ext>
            </a:extLst>
          </p:cNvPr>
          <p:cNvSpPr>
            <a:spLocks noGrp="1"/>
          </p:cNvSpPr>
          <p:nvPr>
            <p:ph idx="1"/>
          </p:nvPr>
        </p:nvSpPr>
        <p:spPr/>
        <p:txBody>
          <a:bodyPr/>
          <a:lstStyle/>
          <a:p>
            <a:r>
              <a:rPr lang="en-US" dirty="0"/>
              <a:t>WHO age classification</a:t>
            </a:r>
          </a:p>
          <a:p>
            <a:pPr marL="800100" lvl="1" indent="-342900">
              <a:buFont typeface="+mj-lt"/>
              <a:buAutoNum type="arabicPeriod"/>
            </a:pPr>
            <a:r>
              <a:rPr lang="en-US" dirty="0"/>
              <a:t>Children : 0-9 years</a:t>
            </a:r>
          </a:p>
          <a:p>
            <a:pPr marL="800100" lvl="1" indent="-342900">
              <a:buFont typeface="+mj-lt"/>
              <a:buAutoNum type="arabicPeriod"/>
            </a:pPr>
            <a:r>
              <a:rPr lang="en-US" dirty="0"/>
              <a:t>Youth: 10-19 years</a:t>
            </a:r>
          </a:p>
          <a:p>
            <a:pPr marL="800100" lvl="1" indent="-342900">
              <a:buFont typeface="+mj-lt"/>
              <a:buAutoNum type="arabicPeriod"/>
            </a:pPr>
            <a:r>
              <a:rPr lang="en-US" dirty="0"/>
              <a:t>Young Adult: 20- 39years</a:t>
            </a:r>
          </a:p>
          <a:p>
            <a:pPr marL="800100" lvl="1" indent="-342900">
              <a:buFont typeface="+mj-lt"/>
              <a:buAutoNum type="arabicPeriod"/>
            </a:pPr>
            <a:r>
              <a:rPr lang="en-US" dirty="0"/>
              <a:t>Middle Age: 40-59 years</a:t>
            </a:r>
          </a:p>
          <a:p>
            <a:pPr marL="800100" lvl="1" indent="-342900">
              <a:buFont typeface="+mj-lt"/>
              <a:buAutoNum type="arabicPeriod"/>
            </a:pPr>
            <a:r>
              <a:rPr lang="en-US" dirty="0"/>
              <a:t>Elderly: 60+ years</a:t>
            </a:r>
          </a:p>
        </p:txBody>
      </p:sp>
    </p:spTree>
    <p:extLst>
      <p:ext uri="{BB962C8B-B14F-4D97-AF65-F5344CB8AC3E}">
        <p14:creationId xmlns:p14="http://schemas.microsoft.com/office/powerpoint/2010/main" val="3167421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4FCE0F-E060-64AE-C142-C167FBA802F3}"/>
              </a:ext>
            </a:extLst>
          </p:cNvPr>
          <p:cNvSpPr>
            <a:spLocks noGrp="1"/>
          </p:cNvSpPr>
          <p:nvPr>
            <p:ph type="title"/>
          </p:nvPr>
        </p:nvSpPr>
        <p:spPr/>
        <p:txBody>
          <a:bodyPr/>
          <a:lstStyle/>
          <a:p>
            <a:r>
              <a:rPr lang="en-US" dirty="0"/>
              <a:t>Frequency of hospital visits</a:t>
            </a:r>
            <a:endParaRPr lang="en-GH" dirty="0"/>
          </a:p>
        </p:txBody>
      </p:sp>
      <p:pic>
        <p:nvPicPr>
          <p:cNvPr id="7" name="Content Placeholder 6">
            <a:extLst>
              <a:ext uri="{FF2B5EF4-FFF2-40B4-BE49-F238E27FC236}">
                <a16:creationId xmlns:a16="http://schemas.microsoft.com/office/drawing/2014/main" id="{54299AA9-8DBA-0AAD-AC35-88A6A6F07CA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1103313" y="1853248"/>
            <a:ext cx="6069997" cy="4200245"/>
          </a:xfrm>
        </p:spPr>
      </p:pic>
      <p:sp>
        <p:nvSpPr>
          <p:cNvPr id="5" name="Content Placeholder 4">
            <a:extLst>
              <a:ext uri="{FF2B5EF4-FFF2-40B4-BE49-F238E27FC236}">
                <a16:creationId xmlns:a16="http://schemas.microsoft.com/office/drawing/2014/main" id="{E3A5F2E4-58F9-D073-6D1C-547758E62F4C}"/>
              </a:ext>
            </a:extLst>
          </p:cNvPr>
          <p:cNvSpPr>
            <a:spLocks noGrp="1"/>
          </p:cNvSpPr>
          <p:nvPr>
            <p:ph sz="half" idx="2"/>
          </p:nvPr>
        </p:nvSpPr>
        <p:spPr>
          <a:xfrm>
            <a:off x="7341403" y="1853248"/>
            <a:ext cx="4396341" cy="4200245"/>
          </a:xfrm>
        </p:spPr>
        <p:txBody>
          <a:bodyPr/>
          <a:lstStyle/>
          <a:p>
            <a:pPr>
              <a:buFont typeface="+mj-lt"/>
              <a:buAutoNum type="arabicPeriod"/>
            </a:pPr>
            <a:r>
              <a:rPr lang="en-US" dirty="0"/>
              <a:t>More middle -aged people are visiting the hospital,</a:t>
            </a:r>
            <a:endParaRPr lang="en-GH" dirty="0"/>
          </a:p>
        </p:txBody>
      </p:sp>
    </p:spTree>
    <p:extLst>
      <p:ext uri="{BB962C8B-B14F-4D97-AF65-F5344CB8AC3E}">
        <p14:creationId xmlns:p14="http://schemas.microsoft.com/office/powerpoint/2010/main" val="3665377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200C5-2B27-5586-AF1B-5D3329D4E927}"/>
              </a:ext>
            </a:extLst>
          </p:cNvPr>
          <p:cNvSpPr>
            <a:spLocks noGrp="1"/>
          </p:cNvSpPr>
          <p:nvPr>
            <p:ph type="title"/>
          </p:nvPr>
        </p:nvSpPr>
        <p:spPr/>
        <p:txBody>
          <a:bodyPr/>
          <a:lstStyle/>
          <a:p>
            <a:r>
              <a:rPr lang="en-US" dirty="0"/>
              <a:t>Distribution of medical condition across age groups</a:t>
            </a:r>
            <a:endParaRPr lang="en-GH" dirty="0"/>
          </a:p>
        </p:txBody>
      </p:sp>
      <p:pic>
        <p:nvPicPr>
          <p:cNvPr id="5" name="Content Placeholder 4">
            <a:extLst>
              <a:ext uri="{FF2B5EF4-FFF2-40B4-BE49-F238E27FC236}">
                <a16:creationId xmlns:a16="http://schemas.microsoft.com/office/drawing/2014/main" id="{3F2512FB-7ABB-5E52-12E7-7186064F3C8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207827" y="1875588"/>
            <a:ext cx="6744766" cy="4200245"/>
          </a:xfrm>
        </p:spPr>
      </p:pic>
      <p:sp>
        <p:nvSpPr>
          <p:cNvPr id="3" name="Content Placeholder 2">
            <a:extLst>
              <a:ext uri="{FF2B5EF4-FFF2-40B4-BE49-F238E27FC236}">
                <a16:creationId xmlns:a16="http://schemas.microsoft.com/office/drawing/2014/main" id="{59A9ADBF-9754-A47E-8EA8-F1A08A8000E8}"/>
              </a:ext>
            </a:extLst>
          </p:cNvPr>
          <p:cNvSpPr>
            <a:spLocks noGrp="1"/>
          </p:cNvSpPr>
          <p:nvPr>
            <p:ph sz="half" idx="2"/>
          </p:nvPr>
        </p:nvSpPr>
        <p:spPr>
          <a:xfrm>
            <a:off x="7467527" y="1875588"/>
            <a:ext cx="4396341" cy="4200245"/>
          </a:xfrm>
        </p:spPr>
        <p:txBody>
          <a:bodyPr>
            <a:normAutofit fontScale="92500" lnSpcReduction="10000"/>
          </a:bodyPr>
          <a:lstStyle/>
          <a:p>
            <a:pPr marL="457200" indent="-457200">
              <a:buFont typeface="+mj-lt"/>
              <a:buAutoNum type="arabicPeriod"/>
            </a:pPr>
            <a:r>
              <a:rPr lang="en-US" dirty="0"/>
              <a:t>Hypertension, stroke, diabetes, coronary artery disease, COPD prominent amongst elderly</a:t>
            </a:r>
          </a:p>
          <a:p>
            <a:pPr marL="457200" indent="-457200">
              <a:buFont typeface="+mj-lt"/>
              <a:buAutoNum type="arabicPeriod"/>
            </a:pPr>
            <a:r>
              <a:rPr lang="en-US" dirty="0"/>
              <a:t>Asthma, appendicitis, anxiety disorder, gastroenteritis prominent in the youth</a:t>
            </a:r>
          </a:p>
          <a:p>
            <a:pPr marL="457200" indent="-457200">
              <a:buFont typeface="+mj-lt"/>
              <a:buAutoNum type="arabicPeriod"/>
            </a:pPr>
            <a:r>
              <a:rPr lang="en-US" dirty="0"/>
              <a:t>Asthma, migraine, depression, appendicitis, anxiety disorder, gastroenteritis prominent in young adults</a:t>
            </a:r>
          </a:p>
          <a:p>
            <a:pPr marL="457200" indent="-457200">
              <a:buFont typeface="+mj-lt"/>
              <a:buAutoNum type="arabicPeriod"/>
            </a:pPr>
            <a:endParaRPr lang="en-US" dirty="0"/>
          </a:p>
          <a:p>
            <a:pPr marL="457200" indent="-457200">
              <a:buFont typeface="+mj-lt"/>
              <a:buAutoNum type="arabicPeriod"/>
            </a:pPr>
            <a:r>
              <a:rPr lang="en-US" dirty="0"/>
              <a:t>Diabetes, hypertension, COVID-19,Depression, Pneumonia, UTI prominent in Middle aged adults</a:t>
            </a:r>
            <a:br>
              <a:rPr lang="en-US" dirty="0"/>
            </a:br>
            <a:endParaRPr lang="en-US" dirty="0"/>
          </a:p>
          <a:p>
            <a:endParaRPr lang="en-GH" dirty="0"/>
          </a:p>
          <a:p>
            <a:endParaRPr lang="en-GH" dirty="0"/>
          </a:p>
        </p:txBody>
      </p:sp>
    </p:spTree>
    <p:extLst>
      <p:ext uri="{BB962C8B-B14F-4D97-AF65-F5344CB8AC3E}">
        <p14:creationId xmlns:p14="http://schemas.microsoft.com/office/powerpoint/2010/main" val="79825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5EABFA-A46D-DAA8-5466-8E248DC830AF}"/>
              </a:ext>
            </a:extLst>
          </p:cNvPr>
          <p:cNvSpPr>
            <a:spLocks noGrp="1"/>
          </p:cNvSpPr>
          <p:nvPr>
            <p:ph type="title"/>
          </p:nvPr>
        </p:nvSpPr>
        <p:spPr/>
        <p:txBody>
          <a:bodyPr/>
          <a:lstStyle/>
          <a:p>
            <a:r>
              <a:rPr lang="en-US" dirty="0"/>
              <a:t>Influence of Age group on Billing Amount</a:t>
            </a:r>
            <a:endParaRPr lang="en-GH" dirty="0"/>
          </a:p>
        </p:txBody>
      </p:sp>
      <p:pic>
        <p:nvPicPr>
          <p:cNvPr id="7" name="Content Placeholder 6">
            <a:extLst>
              <a:ext uri="{FF2B5EF4-FFF2-40B4-BE49-F238E27FC236}">
                <a16:creationId xmlns:a16="http://schemas.microsoft.com/office/drawing/2014/main" id="{3E01470D-AFD2-B640-2275-565A68BB760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1103313" y="1907120"/>
            <a:ext cx="6180356" cy="4200244"/>
          </a:xfrm>
        </p:spPr>
      </p:pic>
      <p:sp>
        <p:nvSpPr>
          <p:cNvPr id="2" name="Content Placeholder 1">
            <a:extLst>
              <a:ext uri="{FF2B5EF4-FFF2-40B4-BE49-F238E27FC236}">
                <a16:creationId xmlns:a16="http://schemas.microsoft.com/office/drawing/2014/main" id="{4FF0D54C-9B32-259F-3E97-E268E3E272CE}"/>
              </a:ext>
            </a:extLst>
          </p:cNvPr>
          <p:cNvSpPr>
            <a:spLocks noGrp="1"/>
          </p:cNvSpPr>
          <p:nvPr>
            <p:ph sz="half" idx="2"/>
          </p:nvPr>
        </p:nvSpPr>
        <p:spPr>
          <a:xfrm>
            <a:off x="7404466" y="1907119"/>
            <a:ext cx="4396341" cy="4200245"/>
          </a:xfrm>
        </p:spPr>
        <p:txBody>
          <a:bodyPr/>
          <a:lstStyle/>
          <a:p>
            <a:pPr marL="0" indent="0">
              <a:buNone/>
            </a:pPr>
            <a:endParaRPr lang="en-US" dirty="0"/>
          </a:p>
          <a:p>
            <a:pPr>
              <a:buFont typeface="+mj-lt"/>
              <a:buAutoNum type="arabicPeriod"/>
            </a:pPr>
            <a:r>
              <a:rPr lang="en-US" dirty="0"/>
              <a:t>Elderly patients spent more on healthcare</a:t>
            </a:r>
          </a:p>
          <a:p>
            <a:pPr>
              <a:buFont typeface="+mj-lt"/>
              <a:buAutoNum type="arabicPeriod"/>
            </a:pPr>
            <a:endParaRPr lang="en-US" dirty="0"/>
          </a:p>
          <a:p>
            <a:pPr>
              <a:buFont typeface="+mj-lt"/>
              <a:buAutoNum type="arabicPeriod"/>
            </a:pPr>
            <a:r>
              <a:rPr lang="en-US" dirty="0"/>
              <a:t>Healthcare expenditure increases with age</a:t>
            </a:r>
            <a:br>
              <a:rPr lang="en-US" dirty="0"/>
            </a:br>
            <a:endParaRPr lang="en-US" dirty="0"/>
          </a:p>
          <a:p>
            <a:endParaRPr lang="en-GH" dirty="0"/>
          </a:p>
        </p:txBody>
      </p:sp>
    </p:spTree>
    <p:extLst>
      <p:ext uri="{BB962C8B-B14F-4D97-AF65-F5344CB8AC3E}">
        <p14:creationId xmlns:p14="http://schemas.microsoft.com/office/powerpoint/2010/main" val="3450251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004D8-B761-746A-077E-4808A5382F83}"/>
              </a:ext>
            </a:extLst>
          </p:cNvPr>
          <p:cNvSpPr>
            <a:spLocks noGrp="1"/>
          </p:cNvSpPr>
          <p:nvPr>
            <p:ph type="title"/>
          </p:nvPr>
        </p:nvSpPr>
        <p:spPr/>
        <p:txBody>
          <a:bodyPr/>
          <a:lstStyle/>
          <a:p>
            <a:r>
              <a:rPr lang="en-US" dirty="0"/>
              <a:t>Medical Condition against Cost</a:t>
            </a:r>
            <a:endParaRPr lang="en-GH" dirty="0"/>
          </a:p>
        </p:txBody>
      </p:sp>
      <p:pic>
        <p:nvPicPr>
          <p:cNvPr id="5" name="Content Placeholder 4">
            <a:extLst>
              <a:ext uri="{FF2B5EF4-FFF2-40B4-BE49-F238E27FC236}">
                <a16:creationId xmlns:a16="http://schemas.microsoft.com/office/drawing/2014/main" id="{99360A03-A2E2-E390-DB19-2000680A5EB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394138" y="1853248"/>
            <a:ext cx="7078717" cy="4200245"/>
          </a:xfrm>
        </p:spPr>
      </p:pic>
      <p:sp>
        <p:nvSpPr>
          <p:cNvPr id="3" name="Content Placeholder 2">
            <a:extLst>
              <a:ext uri="{FF2B5EF4-FFF2-40B4-BE49-F238E27FC236}">
                <a16:creationId xmlns:a16="http://schemas.microsoft.com/office/drawing/2014/main" id="{11206490-0629-D58E-A032-C0E7813C7BBD}"/>
              </a:ext>
            </a:extLst>
          </p:cNvPr>
          <p:cNvSpPr>
            <a:spLocks noGrp="1"/>
          </p:cNvSpPr>
          <p:nvPr>
            <p:ph sz="half" idx="2"/>
          </p:nvPr>
        </p:nvSpPr>
        <p:spPr>
          <a:xfrm>
            <a:off x="7593652" y="1853248"/>
            <a:ext cx="4396341" cy="4200245"/>
          </a:xfrm>
        </p:spPr>
        <p:txBody>
          <a:bodyPr/>
          <a:lstStyle/>
          <a:p>
            <a:pPr>
              <a:buFont typeface="+mj-lt"/>
              <a:buAutoNum type="arabicPeriod"/>
            </a:pPr>
            <a:r>
              <a:rPr lang="en-US" dirty="0"/>
              <a:t>It cost more in treatment depending on the medical condition presented at the hospital</a:t>
            </a:r>
          </a:p>
          <a:p>
            <a:pPr>
              <a:buFont typeface="+mj-lt"/>
              <a:buAutoNum type="arabicPeriod"/>
            </a:pPr>
            <a:r>
              <a:rPr lang="en-US" dirty="0"/>
              <a:t>Sepsis is the most expensive medical condition to treat</a:t>
            </a:r>
          </a:p>
          <a:p>
            <a:pPr>
              <a:buFont typeface="+mj-lt"/>
              <a:buAutoNum type="arabicPeriod"/>
            </a:pPr>
            <a:r>
              <a:rPr lang="en-US" dirty="0"/>
              <a:t>Migraine is the least expensive medical condition to treat</a:t>
            </a:r>
          </a:p>
          <a:p>
            <a:endParaRPr lang="en-GH" dirty="0"/>
          </a:p>
        </p:txBody>
      </p:sp>
    </p:spTree>
    <p:extLst>
      <p:ext uri="{BB962C8B-B14F-4D97-AF65-F5344CB8AC3E}">
        <p14:creationId xmlns:p14="http://schemas.microsoft.com/office/powerpoint/2010/main" val="27167574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8216C-B454-3355-DA6F-E109D1ED3F57}"/>
              </a:ext>
            </a:extLst>
          </p:cNvPr>
          <p:cNvSpPr>
            <a:spLocks noGrp="1"/>
          </p:cNvSpPr>
          <p:nvPr>
            <p:ph type="title"/>
          </p:nvPr>
        </p:nvSpPr>
        <p:spPr/>
        <p:txBody>
          <a:bodyPr/>
          <a:lstStyle/>
          <a:p>
            <a:r>
              <a:rPr lang="en-US" dirty="0"/>
              <a:t>Average cost by length of stay</a:t>
            </a:r>
            <a:endParaRPr lang="en-GH" dirty="0"/>
          </a:p>
        </p:txBody>
      </p:sp>
      <p:pic>
        <p:nvPicPr>
          <p:cNvPr id="5" name="Content Placeholder 4" descr="A graph showing a line">
            <a:extLst>
              <a:ext uri="{FF2B5EF4-FFF2-40B4-BE49-F238E27FC236}">
                <a16:creationId xmlns:a16="http://schemas.microsoft.com/office/drawing/2014/main" id="{A0C5D3C4-3FFE-2662-332C-FE04E127352E}"/>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46111" y="2058334"/>
            <a:ext cx="7149548" cy="4200244"/>
          </a:xfrm>
        </p:spPr>
      </p:pic>
      <p:sp>
        <p:nvSpPr>
          <p:cNvPr id="3" name="Content Placeholder 2">
            <a:extLst>
              <a:ext uri="{FF2B5EF4-FFF2-40B4-BE49-F238E27FC236}">
                <a16:creationId xmlns:a16="http://schemas.microsoft.com/office/drawing/2014/main" id="{0F699525-F912-487D-DA95-1C566B59B77A}"/>
              </a:ext>
            </a:extLst>
          </p:cNvPr>
          <p:cNvSpPr>
            <a:spLocks noGrp="1"/>
          </p:cNvSpPr>
          <p:nvPr>
            <p:ph sz="half" idx="2"/>
          </p:nvPr>
        </p:nvSpPr>
        <p:spPr>
          <a:xfrm>
            <a:off x="7795659" y="2058333"/>
            <a:ext cx="4396341" cy="4200245"/>
          </a:xfrm>
        </p:spPr>
        <p:txBody>
          <a:bodyPr/>
          <a:lstStyle/>
          <a:p>
            <a:pPr>
              <a:buFont typeface="+mj-lt"/>
              <a:buAutoNum type="arabicPeriod"/>
            </a:pPr>
            <a:r>
              <a:rPr lang="en-US" dirty="0"/>
              <a:t>Cost of treatment increases with increasing number of days spent at the hospital</a:t>
            </a:r>
          </a:p>
          <a:p>
            <a:endParaRPr lang="en-GH" dirty="0"/>
          </a:p>
        </p:txBody>
      </p:sp>
    </p:spTree>
    <p:extLst>
      <p:ext uri="{BB962C8B-B14F-4D97-AF65-F5344CB8AC3E}">
        <p14:creationId xmlns:p14="http://schemas.microsoft.com/office/powerpoint/2010/main" val="3721578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4AC23-432F-301C-273B-D29183E624E8}"/>
              </a:ext>
            </a:extLst>
          </p:cNvPr>
          <p:cNvSpPr>
            <a:spLocks noGrp="1"/>
          </p:cNvSpPr>
          <p:nvPr>
            <p:ph type="title"/>
          </p:nvPr>
        </p:nvSpPr>
        <p:spPr/>
        <p:txBody>
          <a:bodyPr/>
          <a:lstStyle/>
          <a:p>
            <a:r>
              <a:rPr lang="en-US" dirty="0"/>
              <a:t>Doctor against Cost</a:t>
            </a:r>
            <a:endParaRPr lang="en-GH" dirty="0"/>
          </a:p>
        </p:txBody>
      </p:sp>
      <p:pic>
        <p:nvPicPr>
          <p:cNvPr id="5" name="Content Placeholder 4">
            <a:extLst>
              <a:ext uri="{FF2B5EF4-FFF2-40B4-BE49-F238E27FC236}">
                <a16:creationId xmlns:a16="http://schemas.microsoft.com/office/drawing/2014/main" id="{65CD52B8-F67F-C2A7-2F1D-10C1DEC2B3E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1103313" y="2058334"/>
            <a:ext cx="6448370" cy="4200244"/>
          </a:xfrm>
        </p:spPr>
      </p:pic>
      <p:sp>
        <p:nvSpPr>
          <p:cNvPr id="3" name="Content Placeholder 2">
            <a:extLst>
              <a:ext uri="{FF2B5EF4-FFF2-40B4-BE49-F238E27FC236}">
                <a16:creationId xmlns:a16="http://schemas.microsoft.com/office/drawing/2014/main" id="{6551A685-2B62-9703-2701-F19D5873B870}"/>
              </a:ext>
            </a:extLst>
          </p:cNvPr>
          <p:cNvSpPr>
            <a:spLocks noGrp="1"/>
          </p:cNvSpPr>
          <p:nvPr>
            <p:ph sz="half" idx="2"/>
          </p:nvPr>
        </p:nvSpPr>
        <p:spPr>
          <a:xfrm>
            <a:off x="7795659" y="2058333"/>
            <a:ext cx="4396341" cy="4200245"/>
          </a:xfrm>
        </p:spPr>
        <p:txBody>
          <a:bodyPr/>
          <a:lstStyle/>
          <a:p>
            <a:pPr>
              <a:buFont typeface="+mj-lt"/>
              <a:buAutoNum type="arabicPeriod"/>
            </a:pPr>
            <a:r>
              <a:rPr lang="en-US" dirty="0"/>
              <a:t>Choice of doctor influences how much is spent likely due to the different approaches each one may have in treatment or likely comorbidities</a:t>
            </a:r>
            <a:endParaRPr lang="en-GH" dirty="0"/>
          </a:p>
        </p:txBody>
      </p:sp>
    </p:spTree>
    <p:extLst>
      <p:ext uri="{BB962C8B-B14F-4D97-AF65-F5344CB8AC3E}">
        <p14:creationId xmlns:p14="http://schemas.microsoft.com/office/powerpoint/2010/main" val="31347101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82742-F939-959D-0554-32C7D182E3AE}"/>
              </a:ext>
            </a:extLst>
          </p:cNvPr>
          <p:cNvSpPr>
            <a:spLocks noGrp="1"/>
          </p:cNvSpPr>
          <p:nvPr>
            <p:ph type="title"/>
          </p:nvPr>
        </p:nvSpPr>
        <p:spPr/>
        <p:txBody>
          <a:bodyPr/>
          <a:lstStyle/>
          <a:p>
            <a:r>
              <a:rPr lang="en-US" dirty="0"/>
              <a:t>Hospital against Cost</a:t>
            </a:r>
            <a:endParaRPr lang="en-GH" dirty="0"/>
          </a:p>
        </p:txBody>
      </p:sp>
      <p:pic>
        <p:nvPicPr>
          <p:cNvPr id="5" name="Content Placeholder 4">
            <a:extLst>
              <a:ext uri="{FF2B5EF4-FFF2-40B4-BE49-F238E27FC236}">
                <a16:creationId xmlns:a16="http://schemas.microsoft.com/office/drawing/2014/main" id="{EB08F0A3-D723-9C0A-93D0-6FC9E6F9C76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362607" y="1853248"/>
            <a:ext cx="7094483" cy="4200245"/>
          </a:xfrm>
        </p:spPr>
      </p:pic>
      <p:sp>
        <p:nvSpPr>
          <p:cNvPr id="3" name="Content Placeholder 2">
            <a:extLst>
              <a:ext uri="{FF2B5EF4-FFF2-40B4-BE49-F238E27FC236}">
                <a16:creationId xmlns:a16="http://schemas.microsoft.com/office/drawing/2014/main" id="{1056B02E-782E-74BC-F547-35AC5168DDD2}"/>
              </a:ext>
            </a:extLst>
          </p:cNvPr>
          <p:cNvSpPr>
            <a:spLocks noGrp="1"/>
          </p:cNvSpPr>
          <p:nvPr>
            <p:ph sz="half" idx="2"/>
          </p:nvPr>
        </p:nvSpPr>
        <p:spPr>
          <a:xfrm>
            <a:off x="7640949" y="1853248"/>
            <a:ext cx="4396341" cy="4200245"/>
          </a:xfrm>
        </p:spPr>
        <p:txBody>
          <a:bodyPr/>
          <a:lstStyle/>
          <a:p>
            <a:pPr>
              <a:buFont typeface="+mj-lt"/>
              <a:buAutoNum type="arabicPeriod"/>
            </a:pPr>
            <a:r>
              <a:rPr lang="en-US" dirty="0"/>
              <a:t>It cost the most to get treatment from City General hospital and the least to get treatment form Regional Medical Hospital</a:t>
            </a:r>
            <a:endParaRPr lang="en-GH" dirty="0"/>
          </a:p>
        </p:txBody>
      </p:sp>
    </p:spTree>
    <p:extLst>
      <p:ext uri="{BB962C8B-B14F-4D97-AF65-F5344CB8AC3E}">
        <p14:creationId xmlns:p14="http://schemas.microsoft.com/office/powerpoint/2010/main" val="107061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A3BAD-F41A-5A0D-0334-EFF95A2B6312}"/>
              </a:ext>
            </a:extLst>
          </p:cNvPr>
          <p:cNvSpPr>
            <a:spLocks noGrp="1"/>
          </p:cNvSpPr>
          <p:nvPr>
            <p:ph type="title"/>
          </p:nvPr>
        </p:nvSpPr>
        <p:spPr/>
        <p:txBody>
          <a:bodyPr/>
          <a:lstStyle/>
          <a:p>
            <a:r>
              <a:rPr lang="en-US" dirty="0"/>
              <a:t>Hospital Vs Medical condition</a:t>
            </a:r>
            <a:endParaRPr lang="en-GH" dirty="0"/>
          </a:p>
        </p:txBody>
      </p:sp>
      <p:pic>
        <p:nvPicPr>
          <p:cNvPr id="6" name="Content Placeholder 5">
            <a:extLst>
              <a:ext uri="{FF2B5EF4-FFF2-40B4-BE49-F238E27FC236}">
                <a16:creationId xmlns:a16="http://schemas.microsoft.com/office/drawing/2014/main" id="{D5D40B97-8B31-56F7-F195-7862AAF0408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57200" y="2058333"/>
            <a:ext cx="6968359" cy="4200245"/>
          </a:xfrm>
        </p:spPr>
      </p:pic>
      <p:sp>
        <p:nvSpPr>
          <p:cNvPr id="4" name="Content Placeholder 3">
            <a:extLst>
              <a:ext uri="{FF2B5EF4-FFF2-40B4-BE49-F238E27FC236}">
                <a16:creationId xmlns:a16="http://schemas.microsoft.com/office/drawing/2014/main" id="{F4575424-C35A-212C-FF1C-AE5A31EB254C}"/>
              </a:ext>
            </a:extLst>
          </p:cNvPr>
          <p:cNvSpPr>
            <a:spLocks noGrp="1"/>
          </p:cNvSpPr>
          <p:nvPr>
            <p:ph sz="half" idx="2"/>
          </p:nvPr>
        </p:nvSpPr>
        <p:spPr>
          <a:xfrm>
            <a:off x="7609417" y="2058333"/>
            <a:ext cx="4396341" cy="4200245"/>
          </a:xfrm>
        </p:spPr>
        <p:txBody>
          <a:bodyPr/>
          <a:lstStyle/>
          <a:p>
            <a:r>
              <a:rPr lang="en-US" dirty="0"/>
              <a:t>Difference in cost of treatment of sepsis at City General and Regional medical is $183804.00</a:t>
            </a:r>
            <a:endParaRPr lang="en-GH" dirty="0"/>
          </a:p>
        </p:txBody>
      </p:sp>
    </p:spTree>
    <p:extLst>
      <p:ext uri="{BB962C8B-B14F-4D97-AF65-F5344CB8AC3E}">
        <p14:creationId xmlns:p14="http://schemas.microsoft.com/office/powerpoint/2010/main" val="4807028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5AE9F-0962-8724-26C7-28031A2BAA9C}"/>
              </a:ext>
            </a:extLst>
          </p:cNvPr>
          <p:cNvSpPr>
            <a:spLocks noGrp="1"/>
          </p:cNvSpPr>
          <p:nvPr>
            <p:ph type="title"/>
          </p:nvPr>
        </p:nvSpPr>
        <p:spPr/>
        <p:txBody>
          <a:bodyPr/>
          <a:lstStyle/>
          <a:p>
            <a:r>
              <a:rPr lang="en-US" dirty="0"/>
              <a:t>Insurance coverage</a:t>
            </a:r>
            <a:endParaRPr lang="en-GH" dirty="0"/>
          </a:p>
        </p:txBody>
      </p:sp>
      <p:pic>
        <p:nvPicPr>
          <p:cNvPr id="5" name="Content Placeholder 4">
            <a:extLst>
              <a:ext uri="{FF2B5EF4-FFF2-40B4-BE49-F238E27FC236}">
                <a16:creationId xmlns:a16="http://schemas.microsoft.com/office/drawing/2014/main" id="{10459FC9-8DAA-AA72-6D8C-6275553A2AA0}"/>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189187" y="1853248"/>
            <a:ext cx="7283668" cy="4200245"/>
          </a:xfrm>
        </p:spPr>
      </p:pic>
      <p:sp>
        <p:nvSpPr>
          <p:cNvPr id="3" name="Content Placeholder 2">
            <a:extLst>
              <a:ext uri="{FF2B5EF4-FFF2-40B4-BE49-F238E27FC236}">
                <a16:creationId xmlns:a16="http://schemas.microsoft.com/office/drawing/2014/main" id="{BCE56BD4-0E4C-7CF0-8716-EBDAB12DFDAE}"/>
              </a:ext>
            </a:extLst>
          </p:cNvPr>
          <p:cNvSpPr>
            <a:spLocks noGrp="1"/>
          </p:cNvSpPr>
          <p:nvPr>
            <p:ph sz="half" idx="2"/>
          </p:nvPr>
        </p:nvSpPr>
        <p:spPr>
          <a:xfrm>
            <a:off x="7725031" y="1853248"/>
            <a:ext cx="4396341" cy="4200245"/>
          </a:xfrm>
        </p:spPr>
        <p:txBody>
          <a:bodyPr/>
          <a:lstStyle/>
          <a:p>
            <a:pPr>
              <a:buFont typeface="+mj-lt"/>
              <a:buAutoNum type="arabicPeriod"/>
            </a:pPr>
            <a:r>
              <a:rPr lang="en-US" dirty="0"/>
              <a:t>There is a significant number of people(2595) who do not have insurance and have to pay their total bills out of pocket</a:t>
            </a:r>
          </a:p>
          <a:p>
            <a:pPr>
              <a:buFont typeface="+mj-lt"/>
              <a:buAutoNum type="arabicPeriod"/>
            </a:pPr>
            <a:r>
              <a:rPr lang="en-US" dirty="0"/>
              <a:t>Despite Medicare having an insurance cover of 80% it covers the largest number of patients.</a:t>
            </a:r>
          </a:p>
          <a:p>
            <a:pPr>
              <a:buFont typeface="+mj-lt"/>
              <a:buAutoNum type="arabicPeriod"/>
            </a:pPr>
            <a:endParaRPr lang="en-US" dirty="0"/>
          </a:p>
          <a:p>
            <a:pPr>
              <a:buFont typeface="+mj-lt"/>
              <a:buAutoNum type="arabicPeriod"/>
            </a:pPr>
            <a:endParaRPr lang="en-GH" dirty="0"/>
          </a:p>
        </p:txBody>
      </p:sp>
    </p:spTree>
    <p:extLst>
      <p:ext uri="{BB962C8B-B14F-4D97-AF65-F5344CB8AC3E}">
        <p14:creationId xmlns:p14="http://schemas.microsoft.com/office/powerpoint/2010/main" val="575959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F278E-5F7E-A234-F1E6-05F918BF3179}"/>
              </a:ext>
            </a:extLst>
          </p:cNvPr>
          <p:cNvSpPr>
            <a:spLocks noGrp="1"/>
          </p:cNvSpPr>
          <p:nvPr>
            <p:ph type="title"/>
          </p:nvPr>
        </p:nvSpPr>
        <p:spPr/>
        <p:txBody>
          <a:bodyPr/>
          <a:lstStyle/>
          <a:p>
            <a:r>
              <a:rPr lang="en-US" dirty="0"/>
              <a:t>Average insurance cover</a:t>
            </a:r>
            <a:endParaRPr lang="en-GH" dirty="0"/>
          </a:p>
        </p:txBody>
      </p:sp>
      <p:pic>
        <p:nvPicPr>
          <p:cNvPr id="5" name="Content Placeholder 4">
            <a:extLst>
              <a:ext uri="{FF2B5EF4-FFF2-40B4-BE49-F238E27FC236}">
                <a16:creationId xmlns:a16="http://schemas.microsoft.com/office/drawing/2014/main" id="{1887E20C-3AAB-9BEA-D4E7-6F1F28E3589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p:blipFill>
        <p:spPr>
          <a:xfrm>
            <a:off x="299545" y="1853248"/>
            <a:ext cx="7341403" cy="4200245"/>
          </a:xfrm>
        </p:spPr>
      </p:pic>
      <p:sp>
        <p:nvSpPr>
          <p:cNvPr id="3" name="Content Placeholder 2">
            <a:extLst>
              <a:ext uri="{FF2B5EF4-FFF2-40B4-BE49-F238E27FC236}">
                <a16:creationId xmlns:a16="http://schemas.microsoft.com/office/drawing/2014/main" id="{A996C193-AD75-638B-3C2D-0D1FC6DB109D}"/>
              </a:ext>
            </a:extLst>
          </p:cNvPr>
          <p:cNvSpPr>
            <a:spLocks noGrp="1"/>
          </p:cNvSpPr>
          <p:nvPr>
            <p:ph sz="half" idx="2"/>
          </p:nvPr>
        </p:nvSpPr>
        <p:spPr>
          <a:xfrm>
            <a:off x="7640948" y="1853248"/>
            <a:ext cx="4396341" cy="4200245"/>
          </a:xfrm>
        </p:spPr>
        <p:txBody>
          <a:bodyPr/>
          <a:lstStyle/>
          <a:p>
            <a:pPr>
              <a:buFont typeface="+mj-lt"/>
              <a:buAutoNum type="arabicPeriod"/>
            </a:pPr>
            <a:r>
              <a:rPr lang="en-US" dirty="0"/>
              <a:t>Medicaid insurance pays the highest bills for patients</a:t>
            </a:r>
          </a:p>
          <a:p>
            <a:pPr>
              <a:buFont typeface="+mj-lt"/>
              <a:buAutoNum type="arabicPeriod"/>
            </a:pPr>
            <a:endParaRPr lang="en-GH" dirty="0"/>
          </a:p>
        </p:txBody>
      </p:sp>
    </p:spTree>
    <p:extLst>
      <p:ext uri="{BB962C8B-B14F-4D97-AF65-F5344CB8AC3E}">
        <p14:creationId xmlns:p14="http://schemas.microsoft.com/office/powerpoint/2010/main" val="524165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E9F43-5451-CEB3-7FAE-8B7F51E88454}"/>
              </a:ext>
            </a:extLst>
          </p:cNvPr>
          <p:cNvSpPr>
            <a:spLocks noGrp="1"/>
          </p:cNvSpPr>
          <p:nvPr>
            <p:ph type="title"/>
          </p:nvPr>
        </p:nvSpPr>
        <p:spPr/>
        <p:txBody>
          <a:bodyPr/>
          <a:lstStyle/>
          <a:p>
            <a:r>
              <a:rPr lang="en-US" dirty="0"/>
              <a:t>Admission type against cost</a:t>
            </a:r>
            <a:endParaRPr lang="en-GH" dirty="0"/>
          </a:p>
        </p:txBody>
      </p:sp>
      <p:pic>
        <p:nvPicPr>
          <p:cNvPr id="5" name="Content Placeholder 4">
            <a:extLst>
              <a:ext uri="{FF2B5EF4-FFF2-40B4-BE49-F238E27FC236}">
                <a16:creationId xmlns:a16="http://schemas.microsoft.com/office/drawing/2014/main" id="{F476E7AF-A7B0-AFFC-17E6-B0BBF6493BF7}"/>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472966" y="1853248"/>
            <a:ext cx="6968357" cy="4405330"/>
          </a:xfrm>
        </p:spPr>
      </p:pic>
      <p:sp>
        <p:nvSpPr>
          <p:cNvPr id="3" name="Content Placeholder 2">
            <a:extLst>
              <a:ext uri="{FF2B5EF4-FFF2-40B4-BE49-F238E27FC236}">
                <a16:creationId xmlns:a16="http://schemas.microsoft.com/office/drawing/2014/main" id="{F9F5D2D2-9B67-0AEC-859D-86237B6F3EF0}"/>
              </a:ext>
            </a:extLst>
          </p:cNvPr>
          <p:cNvSpPr>
            <a:spLocks noGrp="1"/>
          </p:cNvSpPr>
          <p:nvPr>
            <p:ph sz="half" idx="2"/>
          </p:nvPr>
        </p:nvSpPr>
        <p:spPr>
          <a:xfrm>
            <a:off x="7625183" y="2058333"/>
            <a:ext cx="4396341" cy="4200245"/>
          </a:xfrm>
        </p:spPr>
        <p:txBody>
          <a:bodyPr/>
          <a:lstStyle/>
          <a:p>
            <a:r>
              <a:rPr lang="en-US" dirty="0"/>
              <a:t>Emergency admissions incur the highest costs, followed by urgent admissions, with elective admissions being the least expensive</a:t>
            </a:r>
            <a:endParaRPr lang="en-GH" dirty="0"/>
          </a:p>
        </p:txBody>
      </p:sp>
    </p:spTree>
    <p:extLst>
      <p:ext uri="{BB962C8B-B14F-4D97-AF65-F5344CB8AC3E}">
        <p14:creationId xmlns:p14="http://schemas.microsoft.com/office/powerpoint/2010/main" val="36357548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74150-5FF7-9F3A-5DFD-C12B9DD6210B}"/>
              </a:ext>
            </a:extLst>
          </p:cNvPr>
          <p:cNvSpPr>
            <a:spLocks noGrp="1"/>
          </p:cNvSpPr>
          <p:nvPr>
            <p:ph type="title"/>
          </p:nvPr>
        </p:nvSpPr>
        <p:spPr/>
        <p:txBody>
          <a:bodyPr/>
          <a:lstStyle/>
          <a:p>
            <a:r>
              <a:rPr lang="en-US" dirty="0"/>
              <a:t>Medication against cost</a:t>
            </a:r>
            <a:endParaRPr lang="en-GH" dirty="0"/>
          </a:p>
        </p:txBody>
      </p:sp>
      <p:pic>
        <p:nvPicPr>
          <p:cNvPr id="5" name="Content Placeholder 4">
            <a:extLst>
              <a:ext uri="{FF2B5EF4-FFF2-40B4-BE49-F238E27FC236}">
                <a16:creationId xmlns:a16="http://schemas.microsoft.com/office/drawing/2014/main" id="{23DFF2D9-8B3A-9256-4EBC-E0311B9FCC3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202007" y="1853248"/>
            <a:ext cx="7176255" cy="4405662"/>
          </a:xfrm>
        </p:spPr>
      </p:pic>
      <p:sp>
        <p:nvSpPr>
          <p:cNvPr id="3" name="Content Placeholder 2">
            <a:extLst>
              <a:ext uri="{FF2B5EF4-FFF2-40B4-BE49-F238E27FC236}">
                <a16:creationId xmlns:a16="http://schemas.microsoft.com/office/drawing/2014/main" id="{514BCCE5-1E74-D501-133F-339CC460B3DB}"/>
              </a:ext>
            </a:extLst>
          </p:cNvPr>
          <p:cNvSpPr>
            <a:spLocks noGrp="1"/>
          </p:cNvSpPr>
          <p:nvPr>
            <p:ph sz="half" idx="2"/>
          </p:nvPr>
        </p:nvSpPr>
        <p:spPr>
          <a:xfrm>
            <a:off x="7593652" y="1938650"/>
            <a:ext cx="4396341" cy="4200245"/>
          </a:xfrm>
        </p:spPr>
        <p:txBody>
          <a:bodyPr/>
          <a:lstStyle/>
          <a:p>
            <a:pPr>
              <a:buFont typeface="+mj-lt"/>
              <a:buAutoNum type="arabicPeriod"/>
            </a:pPr>
            <a:r>
              <a:rPr lang="en-US" dirty="0"/>
              <a:t>Vancomycin contributes significantly to cost of treatment</a:t>
            </a:r>
          </a:p>
          <a:p>
            <a:pPr>
              <a:buFont typeface="+mj-lt"/>
              <a:buAutoNum type="arabicPeriod"/>
            </a:pPr>
            <a:r>
              <a:rPr lang="en-US" dirty="0"/>
              <a:t>Least expensive contributor is sumatriptan</a:t>
            </a:r>
            <a:endParaRPr lang="en-GH" dirty="0"/>
          </a:p>
        </p:txBody>
      </p:sp>
    </p:spTree>
    <p:extLst>
      <p:ext uri="{BB962C8B-B14F-4D97-AF65-F5344CB8AC3E}">
        <p14:creationId xmlns:p14="http://schemas.microsoft.com/office/powerpoint/2010/main" val="10478701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51EE9-4F62-351D-9481-B9844A603075}"/>
              </a:ext>
            </a:extLst>
          </p:cNvPr>
          <p:cNvSpPr>
            <a:spLocks noGrp="1"/>
          </p:cNvSpPr>
          <p:nvPr>
            <p:ph type="title"/>
          </p:nvPr>
        </p:nvSpPr>
        <p:spPr/>
        <p:txBody>
          <a:bodyPr/>
          <a:lstStyle/>
          <a:p>
            <a:r>
              <a:rPr lang="en-US" dirty="0"/>
              <a:t>Test results against cost</a:t>
            </a:r>
            <a:endParaRPr lang="en-GH" dirty="0"/>
          </a:p>
        </p:txBody>
      </p:sp>
      <p:pic>
        <p:nvPicPr>
          <p:cNvPr id="5" name="Content Placeholder 4">
            <a:extLst>
              <a:ext uri="{FF2B5EF4-FFF2-40B4-BE49-F238E27FC236}">
                <a16:creationId xmlns:a16="http://schemas.microsoft.com/office/drawing/2014/main" id="{AEDEDD12-69D9-8A78-9777-37862297EE1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249304" y="1853248"/>
            <a:ext cx="7176255" cy="4200245"/>
          </a:xfrm>
        </p:spPr>
      </p:pic>
      <p:sp>
        <p:nvSpPr>
          <p:cNvPr id="3" name="Content Placeholder 2">
            <a:extLst>
              <a:ext uri="{FF2B5EF4-FFF2-40B4-BE49-F238E27FC236}">
                <a16:creationId xmlns:a16="http://schemas.microsoft.com/office/drawing/2014/main" id="{948A3782-17E1-317A-DD6B-8A95F4462AC6}"/>
              </a:ext>
            </a:extLst>
          </p:cNvPr>
          <p:cNvSpPr>
            <a:spLocks noGrp="1"/>
          </p:cNvSpPr>
          <p:nvPr>
            <p:ph sz="half" idx="2"/>
          </p:nvPr>
        </p:nvSpPr>
        <p:spPr>
          <a:xfrm>
            <a:off x="7546355" y="1853248"/>
            <a:ext cx="4396341" cy="4200245"/>
          </a:xfrm>
        </p:spPr>
        <p:txBody>
          <a:bodyPr/>
          <a:lstStyle/>
          <a:p>
            <a:pPr>
              <a:buFont typeface="+mj-lt"/>
              <a:buAutoNum type="arabicPeriod"/>
            </a:pPr>
            <a:r>
              <a:rPr lang="en-US" dirty="0"/>
              <a:t>Critical conditions are expensive to treat</a:t>
            </a:r>
            <a:endParaRPr lang="en-GH" dirty="0"/>
          </a:p>
        </p:txBody>
      </p:sp>
    </p:spTree>
    <p:extLst>
      <p:ext uri="{BB962C8B-B14F-4D97-AF65-F5344CB8AC3E}">
        <p14:creationId xmlns:p14="http://schemas.microsoft.com/office/powerpoint/2010/main" val="7279113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37A7B-4140-570A-01FB-F9243955291D}"/>
              </a:ext>
            </a:extLst>
          </p:cNvPr>
          <p:cNvSpPr>
            <a:spLocks noGrp="1"/>
          </p:cNvSpPr>
          <p:nvPr>
            <p:ph type="title"/>
          </p:nvPr>
        </p:nvSpPr>
        <p:spPr/>
        <p:txBody>
          <a:bodyPr/>
          <a:lstStyle/>
          <a:p>
            <a:r>
              <a:rPr lang="en-US" dirty="0"/>
              <a:t>Age group against Test results</a:t>
            </a:r>
            <a:endParaRPr lang="en-GH" dirty="0"/>
          </a:p>
        </p:txBody>
      </p:sp>
      <p:pic>
        <p:nvPicPr>
          <p:cNvPr id="5" name="Content Placeholder 4">
            <a:extLst>
              <a:ext uri="{FF2B5EF4-FFF2-40B4-BE49-F238E27FC236}">
                <a16:creationId xmlns:a16="http://schemas.microsoft.com/office/drawing/2014/main" id="{7B9739B1-D3D1-82FE-DB36-19631433257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394139" y="1853248"/>
            <a:ext cx="7183748" cy="4200245"/>
          </a:xfrm>
        </p:spPr>
      </p:pic>
      <p:sp>
        <p:nvSpPr>
          <p:cNvPr id="3" name="Content Placeholder 2">
            <a:extLst>
              <a:ext uri="{FF2B5EF4-FFF2-40B4-BE49-F238E27FC236}">
                <a16:creationId xmlns:a16="http://schemas.microsoft.com/office/drawing/2014/main" id="{673200CB-B22C-84CC-536D-BBEEE107249B}"/>
              </a:ext>
            </a:extLst>
          </p:cNvPr>
          <p:cNvSpPr>
            <a:spLocks noGrp="1"/>
          </p:cNvSpPr>
          <p:nvPr>
            <p:ph sz="half" idx="2"/>
          </p:nvPr>
        </p:nvSpPr>
        <p:spPr>
          <a:xfrm>
            <a:off x="7577886" y="1853248"/>
            <a:ext cx="4396341" cy="4200245"/>
          </a:xfrm>
        </p:spPr>
        <p:txBody>
          <a:bodyPr/>
          <a:lstStyle/>
          <a:p>
            <a:pPr>
              <a:buFont typeface="+mj-lt"/>
              <a:buAutoNum type="arabicPeriod"/>
            </a:pPr>
            <a:r>
              <a:rPr lang="en-US" dirty="0"/>
              <a:t>Young adults have the highest proportion of it's group having normal results</a:t>
            </a:r>
          </a:p>
          <a:p>
            <a:pPr>
              <a:buFont typeface="+mj-lt"/>
              <a:buAutoNum type="arabicPeriod"/>
            </a:pPr>
            <a:r>
              <a:rPr lang="en-US" dirty="0"/>
              <a:t>Youth has the highest proportion of it's group having critical results</a:t>
            </a:r>
          </a:p>
          <a:p>
            <a:pPr>
              <a:buFont typeface="+mj-lt"/>
              <a:buAutoNum type="arabicPeriod"/>
            </a:pPr>
            <a:r>
              <a:rPr lang="en-US" dirty="0"/>
              <a:t>Middle age has the highest proportion having abnormal results</a:t>
            </a:r>
            <a:endParaRPr lang="en-GH" dirty="0"/>
          </a:p>
        </p:txBody>
      </p:sp>
    </p:spTree>
    <p:extLst>
      <p:ext uri="{BB962C8B-B14F-4D97-AF65-F5344CB8AC3E}">
        <p14:creationId xmlns:p14="http://schemas.microsoft.com/office/powerpoint/2010/main" val="32590595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BAC35-001D-1E7F-B721-FCC33CB7EEBF}"/>
              </a:ext>
            </a:extLst>
          </p:cNvPr>
          <p:cNvSpPr>
            <a:spLocks noGrp="1"/>
          </p:cNvSpPr>
          <p:nvPr>
            <p:ph type="title"/>
          </p:nvPr>
        </p:nvSpPr>
        <p:spPr/>
        <p:txBody>
          <a:bodyPr/>
          <a:lstStyle/>
          <a:p>
            <a:r>
              <a:rPr lang="en-US" dirty="0"/>
              <a:t>Medical condition against Test results</a:t>
            </a:r>
            <a:endParaRPr lang="en-GH" dirty="0"/>
          </a:p>
        </p:txBody>
      </p:sp>
      <p:pic>
        <p:nvPicPr>
          <p:cNvPr id="5" name="Content Placeholder 4">
            <a:extLst>
              <a:ext uri="{FF2B5EF4-FFF2-40B4-BE49-F238E27FC236}">
                <a16:creationId xmlns:a16="http://schemas.microsoft.com/office/drawing/2014/main" id="{8042B57D-0556-BAC2-72D3-00E00C42FAE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249304" y="2058333"/>
            <a:ext cx="7160489" cy="4200245"/>
          </a:xfrm>
        </p:spPr>
      </p:pic>
      <p:sp>
        <p:nvSpPr>
          <p:cNvPr id="3" name="Content Placeholder 2">
            <a:extLst>
              <a:ext uri="{FF2B5EF4-FFF2-40B4-BE49-F238E27FC236}">
                <a16:creationId xmlns:a16="http://schemas.microsoft.com/office/drawing/2014/main" id="{9DB7A5E1-5D06-2D12-C0D7-05A8FED347A8}"/>
              </a:ext>
            </a:extLst>
          </p:cNvPr>
          <p:cNvSpPr>
            <a:spLocks noGrp="1"/>
          </p:cNvSpPr>
          <p:nvPr>
            <p:ph sz="half" idx="2"/>
          </p:nvPr>
        </p:nvSpPr>
        <p:spPr>
          <a:xfrm>
            <a:off x="7546355" y="2058333"/>
            <a:ext cx="4396341" cy="4200245"/>
          </a:xfrm>
        </p:spPr>
        <p:txBody>
          <a:bodyPr/>
          <a:lstStyle/>
          <a:p>
            <a:pPr>
              <a:buFont typeface="+mj-lt"/>
              <a:buAutoNum type="arabicPeriod"/>
            </a:pPr>
            <a:r>
              <a:rPr lang="en-US" dirty="0"/>
              <a:t>Abnormal results dominate across most conditions, particularly for chronic and infectious diseases such as Diabetes Type 2, Hypertension, Pneumonia, COVID-19, and UTI.</a:t>
            </a:r>
          </a:p>
          <a:p>
            <a:pPr>
              <a:buFont typeface="+mj-lt"/>
              <a:buAutoNum type="arabicPeriod"/>
            </a:pPr>
            <a:r>
              <a:rPr lang="en-US" dirty="0"/>
              <a:t>Critical results are concentrated in acute, life-threatening conditions, including Appendicitis, Myocardial Infarction, Stroke, Sepsis, and Pneumonia</a:t>
            </a:r>
          </a:p>
          <a:p>
            <a:endParaRPr lang="en-GH" dirty="0"/>
          </a:p>
        </p:txBody>
      </p:sp>
    </p:spTree>
    <p:extLst>
      <p:ext uri="{BB962C8B-B14F-4D97-AF65-F5344CB8AC3E}">
        <p14:creationId xmlns:p14="http://schemas.microsoft.com/office/powerpoint/2010/main" val="20700894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11396-2A4A-606D-35BB-4E9BE3464CCC}"/>
              </a:ext>
            </a:extLst>
          </p:cNvPr>
          <p:cNvSpPr>
            <a:spLocks noGrp="1"/>
          </p:cNvSpPr>
          <p:nvPr>
            <p:ph type="title"/>
          </p:nvPr>
        </p:nvSpPr>
        <p:spPr/>
        <p:txBody>
          <a:bodyPr/>
          <a:lstStyle/>
          <a:p>
            <a:r>
              <a:rPr lang="en-US" dirty="0"/>
              <a:t>Length of stay against Test results</a:t>
            </a:r>
            <a:endParaRPr lang="en-GH" dirty="0"/>
          </a:p>
        </p:txBody>
      </p:sp>
      <p:pic>
        <p:nvPicPr>
          <p:cNvPr id="5" name="Content Placeholder 4">
            <a:extLst>
              <a:ext uri="{FF2B5EF4-FFF2-40B4-BE49-F238E27FC236}">
                <a16:creationId xmlns:a16="http://schemas.microsoft.com/office/drawing/2014/main" id="{275E8233-87E9-EA72-5701-5215621DA918}"/>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394139" y="1853248"/>
            <a:ext cx="7262576" cy="4200245"/>
          </a:xfrm>
        </p:spPr>
      </p:pic>
      <p:sp>
        <p:nvSpPr>
          <p:cNvPr id="3" name="Content Placeholder 2">
            <a:extLst>
              <a:ext uri="{FF2B5EF4-FFF2-40B4-BE49-F238E27FC236}">
                <a16:creationId xmlns:a16="http://schemas.microsoft.com/office/drawing/2014/main" id="{3B8A7899-297E-E84C-D559-7358B9166109}"/>
              </a:ext>
            </a:extLst>
          </p:cNvPr>
          <p:cNvSpPr>
            <a:spLocks noGrp="1"/>
          </p:cNvSpPr>
          <p:nvPr>
            <p:ph sz="half" idx="2"/>
          </p:nvPr>
        </p:nvSpPr>
        <p:spPr>
          <a:xfrm>
            <a:off x="7656714" y="1853248"/>
            <a:ext cx="4396341" cy="4200245"/>
          </a:xfrm>
        </p:spPr>
        <p:txBody>
          <a:bodyPr>
            <a:normAutofit fontScale="85000" lnSpcReduction="20000"/>
          </a:bodyPr>
          <a:lstStyle/>
          <a:p>
            <a:pPr marL="0" indent="0">
              <a:buNone/>
            </a:pPr>
            <a:endParaRPr lang="en-US" dirty="0"/>
          </a:p>
          <a:p>
            <a:pPr>
              <a:buFont typeface="+mj-lt"/>
              <a:buAutoNum type="arabicPeriod"/>
            </a:pPr>
            <a:r>
              <a:rPr lang="en-US" dirty="0"/>
              <a:t>Normal test results are associated with shorter hospital stays, peaking around 2 - 4 days, and decline sharply thereafter. This suggests quicker diagnosis, treatment, and discharge.</a:t>
            </a:r>
            <a:br>
              <a:rPr lang="en-US" dirty="0"/>
            </a:br>
            <a:br>
              <a:rPr lang="en-US" dirty="0"/>
            </a:br>
            <a:endParaRPr lang="en-US" dirty="0"/>
          </a:p>
          <a:p>
            <a:pPr>
              <a:buFont typeface="+mj-lt"/>
              <a:buAutoNum type="arabicPeriod"/>
            </a:pPr>
            <a:r>
              <a:rPr lang="en-US" dirty="0"/>
              <a:t>Abnormal results peak slightly later (around 4-6 days) and show a longer tail, indicating moderate severity and requiring extended monitoring or treatment.</a:t>
            </a:r>
            <a:br>
              <a:rPr lang="en-US" dirty="0"/>
            </a:br>
            <a:endParaRPr lang="en-US" dirty="0"/>
          </a:p>
          <a:p>
            <a:pPr>
              <a:buFont typeface="+mj-lt"/>
              <a:buAutoNum type="arabicPeriod"/>
            </a:pPr>
            <a:r>
              <a:rPr lang="en-US" dirty="0"/>
              <a:t>Critical test results are strongly associated with prolonged length of stay, with extended distribution that persists beyond 10 - 20 days, reflecting higher severity.</a:t>
            </a:r>
            <a:br>
              <a:rPr lang="en-US" dirty="0"/>
            </a:br>
            <a:br>
              <a:rPr lang="en-US" dirty="0"/>
            </a:br>
            <a:endParaRPr lang="en-US" dirty="0"/>
          </a:p>
          <a:p>
            <a:pPr>
              <a:buFont typeface="+mj-lt"/>
              <a:buAutoNum type="arabicPeriod"/>
            </a:pPr>
            <a:endParaRPr lang="en-GH" dirty="0"/>
          </a:p>
        </p:txBody>
      </p:sp>
    </p:spTree>
    <p:extLst>
      <p:ext uri="{BB962C8B-B14F-4D97-AF65-F5344CB8AC3E}">
        <p14:creationId xmlns:p14="http://schemas.microsoft.com/office/powerpoint/2010/main" val="15774368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C9C75-A6EE-2A03-A7B2-CEC315FFC99C}"/>
              </a:ext>
            </a:extLst>
          </p:cNvPr>
          <p:cNvSpPr>
            <a:spLocks noGrp="1"/>
          </p:cNvSpPr>
          <p:nvPr>
            <p:ph type="title"/>
          </p:nvPr>
        </p:nvSpPr>
        <p:spPr/>
        <p:txBody>
          <a:bodyPr/>
          <a:lstStyle/>
          <a:p>
            <a:r>
              <a:rPr lang="en-US" dirty="0"/>
              <a:t>Hospital against Test results</a:t>
            </a:r>
            <a:endParaRPr lang="en-GH" dirty="0"/>
          </a:p>
        </p:txBody>
      </p:sp>
      <p:pic>
        <p:nvPicPr>
          <p:cNvPr id="5" name="Content Placeholder 4" descr="A colorful squares with black text">
            <a:extLst>
              <a:ext uri="{FF2B5EF4-FFF2-40B4-BE49-F238E27FC236}">
                <a16:creationId xmlns:a16="http://schemas.microsoft.com/office/drawing/2014/main" id="{28F5ED1E-DC33-39B3-0DF9-FCB01867883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346841" y="1853248"/>
            <a:ext cx="7110249" cy="4552034"/>
          </a:xfrm>
        </p:spPr>
      </p:pic>
      <p:sp>
        <p:nvSpPr>
          <p:cNvPr id="3" name="Content Placeholder 2">
            <a:extLst>
              <a:ext uri="{FF2B5EF4-FFF2-40B4-BE49-F238E27FC236}">
                <a16:creationId xmlns:a16="http://schemas.microsoft.com/office/drawing/2014/main" id="{C8AA225D-E449-4ABE-96E1-0221420C3278}"/>
              </a:ext>
            </a:extLst>
          </p:cNvPr>
          <p:cNvSpPr>
            <a:spLocks noGrp="1"/>
          </p:cNvSpPr>
          <p:nvPr>
            <p:ph sz="half" idx="2"/>
          </p:nvPr>
        </p:nvSpPr>
        <p:spPr>
          <a:xfrm>
            <a:off x="7593652" y="2058333"/>
            <a:ext cx="4396341" cy="4200245"/>
          </a:xfrm>
        </p:spPr>
        <p:txBody>
          <a:bodyPr/>
          <a:lstStyle/>
          <a:p>
            <a:pPr>
              <a:buFont typeface="+mj-lt"/>
              <a:buAutoNum type="arabicPeriod"/>
            </a:pPr>
            <a:r>
              <a:rPr lang="en-US" dirty="0"/>
              <a:t>There is an almost uniform distribution of test results across the different hospitals, indicative of similar healthcare standards or protocols in all the facilities.</a:t>
            </a:r>
            <a:br>
              <a:rPr lang="en-US" dirty="0"/>
            </a:br>
            <a:endParaRPr lang="en-US" dirty="0"/>
          </a:p>
          <a:p>
            <a:pPr>
              <a:buFont typeface="+mj-lt"/>
              <a:buAutoNum type="arabicPeriod"/>
            </a:pPr>
            <a:endParaRPr lang="en-GH" dirty="0"/>
          </a:p>
        </p:txBody>
      </p:sp>
    </p:spTree>
    <p:extLst>
      <p:ext uri="{BB962C8B-B14F-4D97-AF65-F5344CB8AC3E}">
        <p14:creationId xmlns:p14="http://schemas.microsoft.com/office/powerpoint/2010/main" val="9628102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93645-32F1-E77A-FE03-8FF7538D75C8}"/>
              </a:ext>
            </a:extLst>
          </p:cNvPr>
          <p:cNvSpPr>
            <a:spLocks noGrp="1"/>
          </p:cNvSpPr>
          <p:nvPr>
            <p:ph type="title"/>
          </p:nvPr>
        </p:nvSpPr>
        <p:spPr/>
        <p:txBody>
          <a:bodyPr/>
          <a:lstStyle/>
          <a:p>
            <a:r>
              <a:rPr lang="en-US" dirty="0"/>
              <a:t>Insurance against cost</a:t>
            </a:r>
            <a:endParaRPr lang="en-GH" dirty="0"/>
          </a:p>
        </p:txBody>
      </p:sp>
      <p:pic>
        <p:nvPicPr>
          <p:cNvPr id="5" name="Content Placeholder 4" descr="A colorful squares with white text&#10;&#10;AI-generated content may be incorrect.">
            <a:extLst>
              <a:ext uri="{FF2B5EF4-FFF2-40B4-BE49-F238E27FC236}">
                <a16:creationId xmlns:a16="http://schemas.microsoft.com/office/drawing/2014/main" id="{40F56811-6BCD-0299-9C4E-B89455698CE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46111" y="1853248"/>
            <a:ext cx="6826744" cy="4200245"/>
          </a:xfrm>
        </p:spPr>
      </p:pic>
      <p:sp>
        <p:nvSpPr>
          <p:cNvPr id="3" name="Content Placeholder 2">
            <a:extLst>
              <a:ext uri="{FF2B5EF4-FFF2-40B4-BE49-F238E27FC236}">
                <a16:creationId xmlns:a16="http://schemas.microsoft.com/office/drawing/2014/main" id="{3DB9BE5D-EC2C-C042-E393-C0505CC801E7}"/>
              </a:ext>
            </a:extLst>
          </p:cNvPr>
          <p:cNvSpPr>
            <a:spLocks noGrp="1"/>
          </p:cNvSpPr>
          <p:nvPr>
            <p:ph sz="half" idx="2"/>
          </p:nvPr>
        </p:nvSpPr>
        <p:spPr>
          <a:xfrm>
            <a:off x="7709265" y="1853248"/>
            <a:ext cx="4396341" cy="4200245"/>
          </a:xfrm>
        </p:spPr>
        <p:txBody>
          <a:bodyPr>
            <a:normAutofit lnSpcReduction="10000"/>
          </a:bodyPr>
          <a:lstStyle/>
          <a:p>
            <a:pPr>
              <a:buFont typeface="+mj-lt"/>
              <a:buAutoNum type="arabicPeriod"/>
            </a:pPr>
            <a:r>
              <a:rPr lang="en-US" dirty="0"/>
              <a:t>Medicaid patients show the highest proportion of critical test results (47.9%)</a:t>
            </a:r>
          </a:p>
          <a:p>
            <a:pPr>
              <a:buFont typeface="+mj-lt"/>
              <a:buAutoNum type="arabicPeriod"/>
            </a:pPr>
            <a:r>
              <a:rPr lang="en-US" dirty="0"/>
              <a:t>Medicare patients have a more balanced distribution, with substantial abnormal (44.1%) and normal (31.2%) results, and a moderate critical share (~24.7%)</a:t>
            </a:r>
          </a:p>
          <a:p>
            <a:pPr>
              <a:buFont typeface="+mj-lt"/>
              <a:buAutoNum type="arabicPeriod"/>
            </a:pPr>
            <a:endParaRPr lang="en-US" dirty="0"/>
          </a:p>
          <a:p>
            <a:pPr>
              <a:buFont typeface="+mj-lt"/>
              <a:buAutoNum type="arabicPeriod"/>
            </a:pPr>
            <a:r>
              <a:rPr lang="en-US" dirty="0"/>
              <a:t>Uninsured patients show elevated normal and abnormal proportions, which may indicate delayed presentation until conditions worsen</a:t>
            </a:r>
            <a:br>
              <a:rPr lang="en-US" dirty="0"/>
            </a:br>
            <a:endParaRPr lang="en-US" dirty="0"/>
          </a:p>
          <a:p>
            <a:pPr>
              <a:buFont typeface="+mj-lt"/>
              <a:buAutoNum type="arabicPeriod"/>
            </a:pPr>
            <a:endParaRPr lang="en-GH" dirty="0"/>
          </a:p>
        </p:txBody>
      </p:sp>
    </p:spTree>
    <p:extLst>
      <p:ext uri="{BB962C8B-B14F-4D97-AF65-F5344CB8AC3E}">
        <p14:creationId xmlns:p14="http://schemas.microsoft.com/office/powerpoint/2010/main" val="1754392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64463-C446-2D53-BACE-EB5B1D48003A}"/>
              </a:ext>
            </a:extLst>
          </p:cNvPr>
          <p:cNvSpPr>
            <a:spLocks noGrp="1"/>
          </p:cNvSpPr>
          <p:nvPr>
            <p:ph type="title"/>
          </p:nvPr>
        </p:nvSpPr>
        <p:spPr/>
        <p:txBody>
          <a:bodyPr/>
          <a:lstStyle/>
          <a:p>
            <a:r>
              <a:rPr lang="en-US" dirty="0"/>
              <a:t>Admission type against test results</a:t>
            </a:r>
            <a:endParaRPr lang="en-GH" dirty="0"/>
          </a:p>
        </p:txBody>
      </p:sp>
      <p:pic>
        <p:nvPicPr>
          <p:cNvPr id="5" name="Content Placeholder 4" descr="A colorful squares with different colors">
            <a:extLst>
              <a:ext uri="{FF2B5EF4-FFF2-40B4-BE49-F238E27FC236}">
                <a16:creationId xmlns:a16="http://schemas.microsoft.com/office/drawing/2014/main" id="{E86E0D70-260D-69FC-B2B4-F0D5F34DF9BF}"/>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472966" y="1853248"/>
            <a:ext cx="7010327" cy="4374131"/>
          </a:xfrm>
        </p:spPr>
      </p:pic>
      <p:sp>
        <p:nvSpPr>
          <p:cNvPr id="3" name="Content Placeholder 2">
            <a:extLst>
              <a:ext uri="{FF2B5EF4-FFF2-40B4-BE49-F238E27FC236}">
                <a16:creationId xmlns:a16="http://schemas.microsoft.com/office/drawing/2014/main" id="{189C61F0-81E8-D4B6-1724-BAB6F54DC2BD}"/>
              </a:ext>
            </a:extLst>
          </p:cNvPr>
          <p:cNvSpPr>
            <a:spLocks noGrp="1"/>
          </p:cNvSpPr>
          <p:nvPr>
            <p:ph sz="half" idx="2"/>
          </p:nvPr>
        </p:nvSpPr>
        <p:spPr>
          <a:xfrm>
            <a:off x="7483293" y="1907119"/>
            <a:ext cx="4396341" cy="4200245"/>
          </a:xfrm>
        </p:spPr>
        <p:txBody>
          <a:bodyPr/>
          <a:lstStyle/>
          <a:p>
            <a:pPr>
              <a:buFont typeface="+mj-lt"/>
              <a:buAutoNum type="arabicPeriod"/>
            </a:pPr>
            <a:endParaRPr lang="en-US" dirty="0"/>
          </a:p>
          <a:p>
            <a:pPr>
              <a:buFont typeface="+mj-lt"/>
              <a:buAutoNum type="arabicPeriod"/>
            </a:pPr>
            <a:r>
              <a:rPr lang="en-US" dirty="0"/>
              <a:t>Type of admission does not influence the test results. Healthcare provision /protocol is standardized</a:t>
            </a:r>
            <a:endParaRPr lang="en-GH" dirty="0"/>
          </a:p>
        </p:txBody>
      </p:sp>
    </p:spTree>
    <p:extLst>
      <p:ext uri="{BB962C8B-B14F-4D97-AF65-F5344CB8AC3E}">
        <p14:creationId xmlns:p14="http://schemas.microsoft.com/office/powerpoint/2010/main" val="42924764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FEFD6-8E9C-D2E3-B32A-77D089C26755}"/>
              </a:ext>
            </a:extLst>
          </p:cNvPr>
          <p:cNvSpPr>
            <a:spLocks noGrp="1"/>
          </p:cNvSpPr>
          <p:nvPr>
            <p:ph type="title"/>
          </p:nvPr>
        </p:nvSpPr>
        <p:spPr/>
        <p:txBody>
          <a:bodyPr/>
          <a:lstStyle/>
          <a:p>
            <a:r>
              <a:rPr lang="en-US" dirty="0"/>
              <a:t>Medication against Test results</a:t>
            </a:r>
            <a:endParaRPr lang="en-GH" dirty="0"/>
          </a:p>
        </p:txBody>
      </p:sp>
      <p:pic>
        <p:nvPicPr>
          <p:cNvPr id="5" name="Content Placeholder 4">
            <a:extLst>
              <a:ext uri="{FF2B5EF4-FFF2-40B4-BE49-F238E27FC236}">
                <a16:creationId xmlns:a16="http://schemas.microsoft.com/office/drawing/2014/main" id="{7D430860-89C9-B4D6-19F8-B8FB960C4E2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p:blipFill>
        <p:spPr>
          <a:xfrm>
            <a:off x="283779" y="2058333"/>
            <a:ext cx="7173311" cy="4200245"/>
          </a:xfrm>
        </p:spPr>
      </p:pic>
      <p:sp>
        <p:nvSpPr>
          <p:cNvPr id="3" name="Content Placeholder 2">
            <a:extLst>
              <a:ext uri="{FF2B5EF4-FFF2-40B4-BE49-F238E27FC236}">
                <a16:creationId xmlns:a16="http://schemas.microsoft.com/office/drawing/2014/main" id="{F36066E5-1D74-9E35-DEFC-54DD4E48D4B1}"/>
              </a:ext>
            </a:extLst>
          </p:cNvPr>
          <p:cNvSpPr>
            <a:spLocks noGrp="1"/>
          </p:cNvSpPr>
          <p:nvPr>
            <p:ph sz="half" idx="2"/>
          </p:nvPr>
        </p:nvSpPr>
        <p:spPr>
          <a:xfrm>
            <a:off x="7656714" y="2058333"/>
            <a:ext cx="4396341" cy="4200245"/>
          </a:xfrm>
        </p:spPr>
        <p:txBody>
          <a:bodyPr>
            <a:normAutofit/>
          </a:bodyPr>
          <a:lstStyle/>
          <a:p>
            <a:pPr>
              <a:buFont typeface="+mj-lt"/>
              <a:buAutoNum type="arabicPeriod"/>
            </a:pPr>
            <a:r>
              <a:rPr lang="en-US" dirty="0"/>
              <a:t>Chronic disease medications such as Metformin, Lisinopril, and Atorvastatin are associated with high volumes of abnormal and normal results</a:t>
            </a:r>
          </a:p>
          <a:p>
            <a:pPr>
              <a:buFont typeface="+mj-lt"/>
              <a:buAutoNum type="arabicPeriod"/>
            </a:pPr>
            <a:r>
              <a:rPr lang="en-US" dirty="0"/>
              <a:t>Antibiotics and antivirals (e.g., Azithromycin, Ciprofloxacin, Vancomycin, Remdesivir) show higher proportions of critical and abnormal results, consistent with their use in acute and severe infections</a:t>
            </a:r>
            <a:endParaRPr lang="en-GH" dirty="0"/>
          </a:p>
        </p:txBody>
      </p:sp>
    </p:spTree>
    <p:extLst>
      <p:ext uri="{BB962C8B-B14F-4D97-AF65-F5344CB8AC3E}">
        <p14:creationId xmlns:p14="http://schemas.microsoft.com/office/powerpoint/2010/main" val="30453913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83193-9B8C-D460-3102-EC90920BD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E6A7E1-4CC0-55A9-471D-06955A14BEF5}"/>
              </a:ext>
            </a:extLst>
          </p:cNvPr>
          <p:cNvSpPr>
            <a:spLocks noGrp="1"/>
          </p:cNvSpPr>
          <p:nvPr>
            <p:ph type="title"/>
          </p:nvPr>
        </p:nvSpPr>
        <p:spPr/>
        <p:txBody>
          <a:bodyPr/>
          <a:lstStyle/>
          <a:p>
            <a:r>
              <a:rPr lang="en-US" dirty="0"/>
              <a:t>Research Questions Answered</a:t>
            </a:r>
            <a:endParaRPr lang="en-GH" dirty="0"/>
          </a:p>
        </p:txBody>
      </p:sp>
      <p:sp>
        <p:nvSpPr>
          <p:cNvPr id="3" name="Content Placeholder 2">
            <a:extLst>
              <a:ext uri="{FF2B5EF4-FFF2-40B4-BE49-F238E27FC236}">
                <a16:creationId xmlns:a16="http://schemas.microsoft.com/office/drawing/2014/main" id="{E714C847-5B33-0DAC-FF41-E21FD32E8AD7}"/>
              </a:ext>
            </a:extLst>
          </p:cNvPr>
          <p:cNvSpPr>
            <a:spLocks noGrp="1"/>
          </p:cNvSpPr>
          <p:nvPr>
            <p:ph idx="1"/>
          </p:nvPr>
        </p:nvSpPr>
        <p:spPr/>
        <p:txBody>
          <a:bodyPr>
            <a:normAutofit fontScale="32500" lnSpcReduction="20000"/>
          </a:bodyPr>
          <a:lstStyle/>
          <a:p>
            <a:pPr marL="0" indent="0">
              <a:buNone/>
            </a:pPr>
            <a:endParaRPr lang="en-US" sz="4000" dirty="0"/>
          </a:p>
          <a:p>
            <a:pPr marL="0" indent="0">
              <a:buNone/>
            </a:pPr>
            <a:r>
              <a:rPr lang="en-US" sz="4000" dirty="0"/>
              <a:t>1</a:t>
            </a:r>
            <a:r>
              <a:rPr lang="en-US" sz="4500" dirty="0"/>
              <a:t>.   Does medical conditions affect billing amount? </a:t>
            </a:r>
          </a:p>
          <a:p>
            <a:pPr marL="971550" lvl="1" indent="-571500"/>
            <a:r>
              <a:rPr lang="en-US" sz="4300" dirty="0"/>
              <a:t>Yes, it does, billing amount varied with different medical conditions</a:t>
            </a:r>
          </a:p>
          <a:p>
            <a:pPr marL="1143000" lvl="1" indent="-742950"/>
            <a:endParaRPr lang="en-US" sz="4500" dirty="0"/>
          </a:p>
          <a:p>
            <a:pPr marL="0" indent="0">
              <a:buNone/>
            </a:pPr>
            <a:r>
              <a:rPr lang="en-US" sz="4500" dirty="0"/>
              <a:t>2.   Does healthcare facility influence billing amount? </a:t>
            </a:r>
          </a:p>
          <a:p>
            <a:pPr marL="971550" lvl="1" indent="-571500"/>
            <a:r>
              <a:rPr lang="en-US" sz="4300" dirty="0"/>
              <a:t>Yes, it does. Across different hospitals but medical condition remaining the same, the billing varied with some hospitals having almost a 69% increase in billing amount</a:t>
            </a:r>
          </a:p>
          <a:p>
            <a:pPr marL="1143000" lvl="1" indent="-742950"/>
            <a:endParaRPr lang="en-US" sz="4500" dirty="0"/>
          </a:p>
          <a:p>
            <a:pPr marL="0" indent="0">
              <a:buNone/>
            </a:pPr>
            <a:r>
              <a:rPr lang="en-US" sz="4500" dirty="0"/>
              <a:t>3.   Does type of admission affect billing amount?</a:t>
            </a:r>
          </a:p>
          <a:p>
            <a:pPr lvl="1"/>
            <a:r>
              <a:rPr lang="en-US" sz="4300" dirty="0"/>
              <a:t>Yes, it does. Protocols differ for the different type of admissions and this determines how much is paid</a:t>
            </a:r>
            <a:endParaRPr lang="en-US" sz="4500" dirty="0"/>
          </a:p>
          <a:p>
            <a:pPr marL="0" indent="0">
              <a:buNone/>
            </a:pPr>
            <a:r>
              <a:rPr lang="en-US" sz="4500" dirty="0"/>
              <a:t>4.   Which demographic group incur higher medical expense?</a:t>
            </a:r>
          </a:p>
          <a:p>
            <a:pPr marL="971550" lvl="1" indent="-571500"/>
            <a:r>
              <a:rPr lang="en-US" sz="4300" dirty="0"/>
              <a:t>Elderly patients i.e. those who are 60 years and above have a higher medical expenditure</a:t>
            </a:r>
            <a:endParaRPr lang="en-US" dirty="0"/>
          </a:p>
          <a:p>
            <a:pPr marL="0" indent="0">
              <a:buNone/>
            </a:pPr>
            <a:endParaRPr lang="en-GH" dirty="0"/>
          </a:p>
        </p:txBody>
      </p:sp>
    </p:spTree>
    <p:extLst>
      <p:ext uri="{BB962C8B-B14F-4D97-AF65-F5344CB8AC3E}">
        <p14:creationId xmlns:p14="http://schemas.microsoft.com/office/powerpoint/2010/main" val="18672537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63B4B-696B-41A8-5829-003B4E3D5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7440F1-1A96-7A94-AB22-7E11FE1A9E1F}"/>
              </a:ext>
            </a:extLst>
          </p:cNvPr>
          <p:cNvSpPr>
            <a:spLocks noGrp="1"/>
          </p:cNvSpPr>
          <p:nvPr>
            <p:ph type="title"/>
          </p:nvPr>
        </p:nvSpPr>
        <p:spPr/>
        <p:txBody>
          <a:bodyPr/>
          <a:lstStyle/>
          <a:p>
            <a:r>
              <a:rPr lang="en-US" dirty="0"/>
              <a:t>Research Questions Answered</a:t>
            </a:r>
            <a:endParaRPr lang="en-GH" dirty="0"/>
          </a:p>
        </p:txBody>
      </p:sp>
      <p:sp>
        <p:nvSpPr>
          <p:cNvPr id="3" name="Content Placeholder 2">
            <a:extLst>
              <a:ext uri="{FF2B5EF4-FFF2-40B4-BE49-F238E27FC236}">
                <a16:creationId xmlns:a16="http://schemas.microsoft.com/office/drawing/2014/main" id="{EDE9AE1A-1594-C73C-B611-B7BC493CF4D9}"/>
              </a:ext>
            </a:extLst>
          </p:cNvPr>
          <p:cNvSpPr>
            <a:spLocks noGrp="1"/>
          </p:cNvSpPr>
          <p:nvPr>
            <p:ph idx="1"/>
          </p:nvPr>
        </p:nvSpPr>
        <p:spPr/>
        <p:txBody>
          <a:bodyPr>
            <a:normAutofit fontScale="25000" lnSpcReduction="20000"/>
          </a:bodyPr>
          <a:lstStyle/>
          <a:p>
            <a:pPr marL="0" indent="0">
              <a:buNone/>
            </a:pPr>
            <a:endParaRPr lang="en-US" dirty="0"/>
          </a:p>
          <a:p>
            <a:pPr marL="914400" indent="-914400">
              <a:buFont typeface="+mj-lt"/>
              <a:buAutoNum type="arabicPeriod" startAt="5"/>
            </a:pPr>
            <a:r>
              <a:rPr lang="en-US" sz="5600" dirty="0"/>
              <a:t>What recommendations can be made to reduce treatment cost?</a:t>
            </a:r>
            <a:br>
              <a:rPr lang="en-US" sz="5600" dirty="0"/>
            </a:br>
            <a:endParaRPr lang="en-US" sz="5600" dirty="0"/>
          </a:p>
          <a:p>
            <a:pPr marL="2171700" lvl="3" indent="-914400"/>
            <a:r>
              <a:rPr lang="en-US" sz="5000" dirty="0"/>
              <a:t>Visit a hospital at the onset of any condition, do not wait till it's an emergency. Delay may increase your expenses</a:t>
            </a:r>
          </a:p>
          <a:p>
            <a:pPr marL="2171700" lvl="3" indent="-914400"/>
            <a:r>
              <a:rPr lang="en-US" sz="5000" dirty="0"/>
              <a:t>Choose a hospital that best fits your financial strength e.g. Regional Hospital charges the least compared to City General hospital</a:t>
            </a:r>
          </a:p>
          <a:p>
            <a:pPr marL="2171700" lvl="3" indent="-914400"/>
            <a:r>
              <a:rPr lang="en-US" sz="5000" dirty="0"/>
              <a:t>Subscribe to a health insurance</a:t>
            </a:r>
          </a:p>
          <a:p>
            <a:pPr marL="2171700" lvl="3" indent="-914400"/>
            <a:r>
              <a:rPr lang="en-US" sz="5000" dirty="0"/>
              <a:t>Be health conscious(exercise, eat well, rest properly, etc.)</a:t>
            </a:r>
          </a:p>
          <a:p>
            <a:pPr marL="1314450" lvl="1" indent="-914400"/>
            <a:endParaRPr lang="en-US" sz="5400" dirty="0"/>
          </a:p>
          <a:p>
            <a:pPr marL="914400" indent="-914400">
              <a:buFont typeface="+mj-lt"/>
              <a:buAutoNum type="arabicPeriod" startAt="5"/>
            </a:pPr>
            <a:r>
              <a:rPr lang="en-US" sz="5600" dirty="0"/>
              <a:t>Does medical condition, medication, age, length of hospital stay influence test </a:t>
            </a:r>
            <a:r>
              <a:rPr lang="en-US" sz="5400" dirty="0"/>
              <a:t>results? </a:t>
            </a:r>
          </a:p>
          <a:p>
            <a:pPr lvl="3"/>
            <a:r>
              <a:rPr lang="en-US" sz="5000" dirty="0"/>
              <a:t>The kind of medical condition presented does not influence test results</a:t>
            </a:r>
          </a:p>
          <a:p>
            <a:pPr lvl="3"/>
            <a:r>
              <a:rPr lang="en-US" sz="5000" dirty="0"/>
              <a:t>Age has an influence on test results as younger people generally may recover faster compared to older people</a:t>
            </a:r>
          </a:p>
          <a:p>
            <a:pPr lvl="3"/>
            <a:r>
              <a:rPr lang="en-US" sz="5000" dirty="0"/>
              <a:t>The test result may influence how a patient stays in the hospital*</a:t>
            </a:r>
            <a:endParaRPr lang="en-GH" dirty="0"/>
          </a:p>
        </p:txBody>
      </p:sp>
    </p:spTree>
    <p:extLst>
      <p:ext uri="{BB962C8B-B14F-4D97-AF65-F5344CB8AC3E}">
        <p14:creationId xmlns:p14="http://schemas.microsoft.com/office/powerpoint/2010/main" val="22233695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2DFDD-6572-FC52-A352-4C529C045F00}"/>
              </a:ext>
            </a:extLst>
          </p:cNvPr>
          <p:cNvSpPr>
            <a:spLocks noGrp="1"/>
          </p:cNvSpPr>
          <p:nvPr>
            <p:ph type="title"/>
          </p:nvPr>
        </p:nvSpPr>
        <p:spPr/>
        <p:txBody>
          <a:bodyPr/>
          <a:lstStyle/>
          <a:p>
            <a:r>
              <a:rPr lang="en-US" dirty="0"/>
              <a:t>Research Questions Answered</a:t>
            </a:r>
            <a:endParaRPr lang="en-GH" dirty="0"/>
          </a:p>
        </p:txBody>
      </p:sp>
      <p:sp>
        <p:nvSpPr>
          <p:cNvPr id="3" name="Content Placeholder 2">
            <a:extLst>
              <a:ext uri="{FF2B5EF4-FFF2-40B4-BE49-F238E27FC236}">
                <a16:creationId xmlns:a16="http://schemas.microsoft.com/office/drawing/2014/main" id="{23903D54-36A5-C255-0E6D-A9FB3EE34DE1}"/>
              </a:ext>
            </a:extLst>
          </p:cNvPr>
          <p:cNvSpPr>
            <a:spLocks noGrp="1"/>
          </p:cNvSpPr>
          <p:nvPr>
            <p:ph idx="1"/>
          </p:nvPr>
        </p:nvSpPr>
        <p:spPr/>
        <p:txBody>
          <a:bodyPr>
            <a:normAutofit/>
          </a:bodyPr>
          <a:lstStyle/>
          <a:p>
            <a:pPr marL="914400" indent="-914400">
              <a:buFont typeface="+mj-lt"/>
              <a:buAutoNum type="arabicPeriod" startAt="7"/>
            </a:pPr>
            <a:r>
              <a:rPr lang="en-US" sz="2100" dirty="0"/>
              <a:t>Are certain medical conditions or age groups more prone to poor test outcomes?</a:t>
            </a:r>
          </a:p>
          <a:p>
            <a:pPr lvl="2"/>
            <a:r>
              <a:rPr lang="en-US" sz="1700" dirty="0"/>
              <a:t>Yes, there are. Risk groups that have a significant portion of patients having either abnormal or critical results are Sepsis,   Myocardial Infarction, Appendicitis, Stroke, Kidney stones, Coronary Artery Disease</a:t>
            </a:r>
            <a:br>
              <a:rPr lang="en-US" sz="1700" dirty="0"/>
            </a:br>
            <a:endParaRPr lang="en-US" sz="1700" dirty="0"/>
          </a:p>
          <a:p>
            <a:endParaRPr lang="en-GH" dirty="0"/>
          </a:p>
        </p:txBody>
      </p:sp>
    </p:spTree>
    <p:extLst>
      <p:ext uri="{BB962C8B-B14F-4D97-AF65-F5344CB8AC3E}">
        <p14:creationId xmlns:p14="http://schemas.microsoft.com/office/powerpoint/2010/main" val="33096404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85366-D6FC-0B76-E190-2E8335747B9E}"/>
              </a:ext>
            </a:extLst>
          </p:cNvPr>
          <p:cNvSpPr>
            <a:spLocks noGrp="1"/>
          </p:cNvSpPr>
          <p:nvPr>
            <p:ph type="title"/>
          </p:nvPr>
        </p:nvSpPr>
        <p:spPr/>
        <p:txBody>
          <a:bodyPr/>
          <a:lstStyle/>
          <a:p>
            <a:r>
              <a:rPr lang="en-US" dirty="0"/>
              <a:t>Key findings</a:t>
            </a:r>
            <a:endParaRPr lang="en-GH" dirty="0"/>
          </a:p>
        </p:txBody>
      </p:sp>
      <p:sp>
        <p:nvSpPr>
          <p:cNvPr id="3" name="Content Placeholder 2">
            <a:extLst>
              <a:ext uri="{FF2B5EF4-FFF2-40B4-BE49-F238E27FC236}">
                <a16:creationId xmlns:a16="http://schemas.microsoft.com/office/drawing/2014/main" id="{8C3298D5-5A42-5112-3A02-58ABCC41FB62}"/>
              </a:ext>
            </a:extLst>
          </p:cNvPr>
          <p:cNvSpPr>
            <a:spLocks noGrp="1"/>
          </p:cNvSpPr>
          <p:nvPr>
            <p:ph idx="1"/>
          </p:nvPr>
        </p:nvSpPr>
        <p:spPr/>
        <p:txBody>
          <a:bodyPr/>
          <a:lstStyle/>
          <a:p>
            <a:pPr marL="457200" indent="-457200">
              <a:buFont typeface="+mj-lt"/>
              <a:buAutoNum type="arabicPeriod"/>
            </a:pPr>
            <a:r>
              <a:rPr lang="en-US" dirty="0"/>
              <a:t>Emergency admissions are the most frequent, accounting for approximately 50% of all cases.</a:t>
            </a:r>
          </a:p>
          <a:p>
            <a:pPr marL="457200" indent="-457200">
              <a:buFont typeface="+mj-lt"/>
              <a:buAutoNum type="arabicPeriod"/>
            </a:pPr>
            <a:r>
              <a:rPr lang="en-US" dirty="0"/>
              <a:t>Approximately 22% of patients had “Critical” test results. These are significantly more expensive with an average billing of $113,163 compared to only $8483 for patients with ‘Normal’ test results.</a:t>
            </a:r>
          </a:p>
          <a:p>
            <a:pPr marL="457200" indent="-457200">
              <a:buFont typeface="+mj-lt"/>
              <a:buAutoNum type="arabicPeriod"/>
            </a:pPr>
            <a:r>
              <a:rPr lang="en-US" dirty="0"/>
              <a:t>Medicare is the dominant insurance provider with 8377 patients. 8.65% of patients are listed as having “No insurance”. </a:t>
            </a:r>
          </a:p>
        </p:txBody>
      </p:sp>
    </p:spTree>
    <p:extLst>
      <p:ext uri="{BB962C8B-B14F-4D97-AF65-F5344CB8AC3E}">
        <p14:creationId xmlns:p14="http://schemas.microsoft.com/office/powerpoint/2010/main" val="755642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FF382-5721-D084-3497-866635360B3F}"/>
              </a:ext>
            </a:extLst>
          </p:cNvPr>
          <p:cNvSpPr>
            <a:spLocks noGrp="1"/>
          </p:cNvSpPr>
          <p:nvPr>
            <p:ph type="title"/>
          </p:nvPr>
        </p:nvSpPr>
        <p:spPr/>
        <p:txBody>
          <a:bodyPr/>
          <a:lstStyle/>
          <a:p>
            <a:r>
              <a:rPr lang="en-US" dirty="0"/>
              <a:t>Recommendation</a:t>
            </a:r>
            <a:endParaRPr lang="en-GH" dirty="0"/>
          </a:p>
        </p:txBody>
      </p:sp>
      <p:sp>
        <p:nvSpPr>
          <p:cNvPr id="3" name="Content Placeholder 2">
            <a:extLst>
              <a:ext uri="{FF2B5EF4-FFF2-40B4-BE49-F238E27FC236}">
                <a16:creationId xmlns:a16="http://schemas.microsoft.com/office/drawing/2014/main" id="{CB54CAA9-05C1-9C2C-A442-25DCA4C72172}"/>
              </a:ext>
            </a:extLst>
          </p:cNvPr>
          <p:cNvSpPr>
            <a:spLocks noGrp="1"/>
          </p:cNvSpPr>
          <p:nvPr>
            <p:ph idx="1"/>
          </p:nvPr>
        </p:nvSpPr>
        <p:spPr/>
        <p:txBody>
          <a:bodyPr/>
          <a:lstStyle/>
          <a:p>
            <a:pPr marL="457200" indent="-457200">
              <a:buFont typeface="+mj-lt"/>
              <a:buAutoNum type="arabicPeriod"/>
            </a:pPr>
            <a:r>
              <a:rPr lang="en-US" dirty="0"/>
              <a:t>Preventive care focus: The middle aged, young adult and elderly represent demographic groups with the highest number of hospital visits. A targeted public health campaigned focused on this group may help promote healthier lifestyles</a:t>
            </a:r>
          </a:p>
          <a:p>
            <a:pPr marL="457200" indent="-457200">
              <a:buFont typeface="+mj-lt"/>
              <a:buAutoNum type="arabicPeriod"/>
            </a:pPr>
            <a:r>
              <a:rPr lang="en-US" dirty="0"/>
              <a:t>Do not wait for a medical condition to become severe before visiting a hospital</a:t>
            </a:r>
          </a:p>
          <a:p>
            <a:pPr marL="457200" indent="-457200">
              <a:buFont typeface="+mj-lt"/>
              <a:buAutoNum type="arabicPeriod"/>
            </a:pPr>
            <a:endParaRPr lang="en-US" dirty="0"/>
          </a:p>
          <a:p>
            <a:pPr marL="457200" indent="-457200">
              <a:buFont typeface="+mj-lt"/>
              <a:buAutoNum type="arabicPeriod"/>
            </a:pPr>
            <a:r>
              <a:rPr lang="en-US" dirty="0"/>
              <a:t>Comprehensive health insurance education guide for the uninsured</a:t>
            </a:r>
          </a:p>
          <a:p>
            <a:endParaRPr lang="en-GH" dirty="0"/>
          </a:p>
        </p:txBody>
      </p:sp>
    </p:spTree>
    <p:extLst>
      <p:ext uri="{BB962C8B-B14F-4D97-AF65-F5344CB8AC3E}">
        <p14:creationId xmlns:p14="http://schemas.microsoft.com/office/powerpoint/2010/main" val="39965601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E8329-BA56-E729-9905-FB68AA7028D3}"/>
              </a:ext>
            </a:extLst>
          </p:cNvPr>
          <p:cNvSpPr>
            <a:spLocks noGrp="1"/>
          </p:cNvSpPr>
          <p:nvPr>
            <p:ph type="title"/>
          </p:nvPr>
        </p:nvSpPr>
        <p:spPr/>
        <p:txBody>
          <a:bodyPr/>
          <a:lstStyle/>
          <a:p>
            <a:r>
              <a:rPr lang="en-GH" dirty="0"/>
              <a:t>Conclusion</a:t>
            </a:r>
          </a:p>
        </p:txBody>
      </p:sp>
      <p:sp>
        <p:nvSpPr>
          <p:cNvPr id="3" name="Content Placeholder 2">
            <a:extLst>
              <a:ext uri="{FF2B5EF4-FFF2-40B4-BE49-F238E27FC236}">
                <a16:creationId xmlns:a16="http://schemas.microsoft.com/office/drawing/2014/main" id="{6D90B670-1BD4-4C53-563D-6AD9E545A5B7}"/>
              </a:ext>
            </a:extLst>
          </p:cNvPr>
          <p:cNvSpPr>
            <a:spLocks noGrp="1"/>
          </p:cNvSpPr>
          <p:nvPr>
            <p:ph idx="1"/>
          </p:nvPr>
        </p:nvSpPr>
        <p:spPr/>
        <p:txBody>
          <a:bodyPr>
            <a:normAutofit fontScale="70000" lnSpcReduction="20000"/>
          </a:bodyPr>
          <a:lstStyle/>
          <a:p>
            <a:pPr marL="457200" indent="-457200">
              <a:buFont typeface="+mj-lt"/>
              <a:buAutoNum type="arabicPeriod"/>
            </a:pPr>
            <a:r>
              <a:rPr lang="en-US" dirty="0"/>
              <a:t>Sepsis, Myocardial infarction and stroke are the most expensive conditions with sepsis averaging billing amount of approximately $358000 per case. Implementation of early warning sign systems will catch the conditions early and help reduce cost and improve patient outcome</a:t>
            </a:r>
          </a:p>
          <a:p>
            <a:pPr marL="457200" indent="-457200">
              <a:buFont typeface="+mj-lt"/>
              <a:buAutoNum type="arabicPeriod"/>
            </a:pPr>
            <a:endParaRPr lang="en-US" dirty="0"/>
          </a:p>
          <a:p>
            <a:pPr marL="457200" indent="-457200">
              <a:buFont typeface="+mj-lt"/>
              <a:buAutoNum type="arabicPeriod"/>
            </a:pPr>
            <a:r>
              <a:rPr lang="en-US" dirty="0"/>
              <a:t>Significant variance in treatment costs exists, with City General charging 69% more for Sepsis than Regional Medical. Investigate the drivers behind the 69% price gap—whether due to higher complication rates, longer lengths of stay, or administrative overhead.</a:t>
            </a:r>
          </a:p>
          <a:p>
            <a:pPr marL="457200" indent="-457200">
              <a:buFont typeface="+mj-lt"/>
              <a:buAutoNum type="arabicPeriod"/>
            </a:pPr>
            <a:endParaRPr lang="en-US" dirty="0"/>
          </a:p>
          <a:p>
            <a:pPr marL="457200" indent="-457200">
              <a:buFont typeface="+mj-lt"/>
              <a:buAutoNum type="arabicPeriod"/>
            </a:pPr>
            <a:r>
              <a:rPr lang="en-US" dirty="0"/>
              <a:t>High volume cases are being treated via emergency admissions, that is about 50% of cases. This is indicative of poor primary care management leading to preventable high cost emergency visits. Transition from a reactive "Emergency-first" model to a proactive "Primary care-first" model.</a:t>
            </a:r>
          </a:p>
          <a:p>
            <a:pPr marL="457200" indent="-457200">
              <a:buFont typeface="+mj-lt"/>
              <a:buAutoNum type="arabicPeriod"/>
            </a:pPr>
            <a:endParaRPr lang="en-US" dirty="0"/>
          </a:p>
          <a:p>
            <a:pPr marL="457200" indent="-457200">
              <a:buFont typeface="+mj-lt"/>
              <a:buAutoNum type="arabicPeriod"/>
            </a:pPr>
            <a:r>
              <a:rPr lang="en-US" dirty="0"/>
              <a:t>Patients with no insurance are paying for all their bills out-of-pocket. Proactively identify uninsured patients upon admission and educate and guide them on the need for a health insurance</a:t>
            </a:r>
            <a:endParaRPr lang="en-GH" dirty="0"/>
          </a:p>
        </p:txBody>
      </p:sp>
    </p:spTree>
    <p:extLst>
      <p:ext uri="{BB962C8B-B14F-4D97-AF65-F5344CB8AC3E}">
        <p14:creationId xmlns:p14="http://schemas.microsoft.com/office/powerpoint/2010/main" val="15573510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13819</TotalTime>
  <Words>1769</Words>
  <Application>Microsoft Office PowerPoint</Application>
  <PresentationFormat>Widescreen</PresentationFormat>
  <Paragraphs>168</Paragraphs>
  <Slides>40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Century Gothic</vt:lpstr>
      <vt:lpstr>Wingdings 3</vt:lpstr>
      <vt:lpstr>Ion</vt:lpstr>
      <vt:lpstr>COST DRIVERS IN HEALTHCARE AND FACTORS AFFECTING THE OUTCOMES OF TREATMENT</vt:lpstr>
      <vt:lpstr>Introduction</vt:lpstr>
      <vt:lpstr>Objectives</vt:lpstr>
      <vt:lpstr>Research Questions</vt:lpstr>
      <vt:lpstr>Research Questions</vt:lpstr>
      <vt:lpstr>Data Preparation</vt:lpstr>
      <vt:lpstr>Tools used</vt:lpstr>
      <vt:lpstr>Data Overview</vt:lpstr>
      <vt:lpstr>Data cleaning</vt:lpstr>
      <vt:lpstr> Numerical correlation</vt:lpstr>
      <vt:lpstr>Initial Insights</vt:lpstr>
      <vt:lpstr>Initial Insight</vt:lpstr>
      <vt:lpstr>Analyses</vt:lpstr>
      <vt:lpstr>Age grouping</vt:lpstr>
      <vt:lpstr>Frequency of hospital visits</vt:lpstr>
      <vt:lpstr>Distribution of medical condition across age groups</vt:lpstr>
      <vt:lpstr>Influence of Age group on Billing Amount</vt:lpstr>
      <vt:lpstr>Medical Condition against Cost</vt:lpstr>
      <vt:lpstr>Average cost by length of stay</vt:lpstr>
      <vt:lpstr>Doctor against Cost</vt:lpstr>
      <vt:lpstr>Hospital against Cost</vt:lpstr>
      <vt:lpstr>Hospital Vs Medical condition</vt:lpstr>
      <vt:lpstr>Insurance coverage</vt:lpstr>
      <vt:lpstr>Average insurance cover</vt:lpstr>
      <vt:lpstr>Admission type against cost</vt:lpstr>
      <vt:lpstr>Medication against cost</vt:lpstr>
      <vt:lpstr>Test results against cost</vt:lpstr>
      <vt:lpstr>Age group against Test results</vt:lpstr>
      <vt:lpstr>Medical condition against Test results</vt:lpstr>
      <vt:lpstr>Length of stay against Test results</vt:lpstr>
      <vt:lpstr>Hospital against Test results</vt:lpstr>
      <vt:lpstr>Insurance against cost</vt:lpstr>
      <vt:lpstr>Admission type against test results</vt:lpstr>
      <vt:lpstr>Medication against Test results</vt:lpstr>
      <vt:lpstr>Research Questions Answered</vt:lpstr>
      <vt:lpstr>Research Questions Answered</vt:lpstr>
      <vt:lpstr>Research Questions Answered</vt:lpstr>
      <vt:lpstr>Key findings</vt:lpstr>
      <vt:lpstr>Recommendation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Nana Kwame Acheampong</dc:creator>
  <cp:lastModifiedBy>Nana Kwame Acheampong</cp:lastModifiedBy>
  <cp:revision>55</cp:revision>
  <dcterms:created xsi:type="dcterms:W3CDTF">2025-12-08T11:01:40Z</dcterms:created>
  <dcterms:modified xsi:type="dcterms:W3CDTF">2025-12-18T16:00:27Z</dcterms:modified>
</cp:coreProperties>
</file>